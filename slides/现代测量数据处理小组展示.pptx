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1089506" r:id="rId3"/>
    <p:sldId id="11089543" r:id="rId5"/>
    <p:sldId id="11089581" r:id="rId6"/>
    <p:sldId id="11089565" r:id="rId7"/>
    <p:sldId id="11089566" r:id="rId8"/>
    <p:sldId id="11089579" r:id="rId9"/>
    <p:sldId id="11089567" r:id="rId10"/>
    <p:sldId id="11089570" r:id="rId11"/>
    <p:sldId id="11089580" r:id="rId12"/>
    <p:sldId id="11089571" r:id="rId13"/>
    <p:sldId id="11089572" r:id="rId14"/>
    <p:sldId id="11089573" r:id="rId15"/>
    <p:sldId id="11089574" r:id="rId16"/>
    <p:sldId id="11089575" r:id="rId17"/>
    <p:sldId id="11089576" r:id="rId18"/>
    <p:sldId id="11089578" r:id="rId19"/>
    <p:sldId id="11089564" r:id="rId20"/>
    <p:sldId id="11089577" r:id="rId21"/>
    <p:sldId id="11089582" r:id="rId22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D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20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17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IoU 中位数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9AA3B5"/>
              </a:solidFill>
            </c:spPr>
          </c:dPt>
          <c:dPt>
            <c:idx val="1"/>
            <c:invertIfNegative val="0"/>
            <c:bubble3D val="0"/>
            <c:spPr>
              <a:solidFill>
                <a:srgbClr val="203D88"/>
              </a:solidFill>
            </c:spPr>
          </c:dPt>
          <c:dPt>
            <c:idx val="2"/>
            <c:invertIfNegative val="0"/>
            <c:bubble3D val="0"/>
            <c:spPr>
              <a:solidFill>
                <a:srgbClr val="001E64"/>
              </a:solidFill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300" b="0" i="0" u="none" strike="noStrike" kern="1200" baseline="0">
                    <a:solidFill>
                      <a:srgbClr val="222222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按路侧图像拟合的框（指标上界）</c:v>
                </c:pt>
                <c:pt idx="1">
                  <c:v>路侧激光雷达框（经激光雷达–相机外参）</c:v>
                </c:pt>
                <c:pt idx="2">
                  <c:v>车端框 · 官方补丁（再经车路坐标链）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</c:v>
                </c:pt>
                <c:pt idx="1">
                  <c:v>0.68</c:v>
                </c:pt>
                <c:pt idx="2">
                  <c:v>0.6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 w="6350" cap="flat" cmpd="sng" algn="ctr">
            <a:solidFill>
              <a:srgbClr val="BBBBB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222222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t"/>
        <c:majorGridlines>
          <c:spPr>
            <a:ln w="6350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222222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  <c:majorUnit val="0.2"/>
      </c:valAx>
    </c:plotArea>
    <c:plotVisOnly val="1"/>
    <c:dispBlanksAs val="gap"/>
    <c:showDLblsOverMax val="0"/>
    <c:extLst>
      <c:ext uri="{0b15fc19-7d7d-44ad-8c2d-2c3a37ce22c3}">
        <chartProps xmlns="https://web.wps.cn/et/2018/main" chartId="{76936cd1-7b56-40c4-b08f-27f90f95bd91}"/>
      </c:ext>
    </c:extLst>
  </c:chart>
  <c:txPr>
    <a:bodyPr/>
    <a:lstStyle/>
    <a:p>
      <a:pPr>
        <a:defRPr lang="zh-CN" sz="1300">
          <a:solidFill>
            <a:srgbClr val="222222"/>
          </a:solidFill>
          <a:latin typeface="微软雅黑" panose="020B050302020402020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中位数 (m)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9AA3B5"/>
              </a:solidFill>
            </c:spPr>
          </c:dPt>
          <c:dPt>
            <c:idx val="1"/>
            <c:invertIfNegative val="0"/>
            <c:bubble3D val="0"/>
            <c:spPr>
              <a:solidFill>
                <a:srgbClr val="001E64"/>
              </a:solidFill>
            </c:spPr>
          </c:dPt>
          <c:dPt>
            <c:idx val="2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3"/>
            <c:invertIfNegative val="0"/>
            <c:bubble3D val="0"/>
            <c:spPr>
              <a:solidFill>
                <a:srgbClr val="C00000"/>
              </a:solidFill>
            </c:spPr>
          </c:dPt>
          <c:dLbls>
            <c:numFmt formatCode="0.00&quot; 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300" b="0" i="0" u="none" strike="noStrike" kern="1200" baseline="0">
                    <a:solidFill>
                      <a:srgbClr val="222222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逐帧补丁大小</c:v>
                </c:pt>
                <c:pt idx="1">
                  <c:v>同一路侧设备共有</c:v>
                </c:pt>
                <c:pt idx="2">
                  <c:v>随序列变化</c:v>
                </c:pt>
                <c:pt idx="3">
                  <c:v>序列内逐帧变化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0.95</c:v>
                </c:pt>
                <c:pt idx="1">
                  <c:v>0.2</c:v>
                </c:pt>
                <c:pt idx="2">
                  <c:v>0.52</c:v>
                </c:pt>
                <c:pt idx="3">
                  <c:v>0.49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222222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0"/>
        <c:axPos val="l"/>
        <c:majorGridlines>
          <c:spPr>
            <a:ln w="6350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222222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  <c:majorUnit val="0.4"/>
      </c:valAx>
    </c:plotArea>
    <c:plotVisOnly val="1"/>
    <c:dispBlanksAs val="gap"/>
    <c:showDLblsOverMax val="0"/>
    <c:extLst>
      <c:ext uri="{0b15fc19-7d7d-44ad-8c2d-2c3a37ce22c3}">
        <chartProps xmlns="https://web.wps.cn/et/2018/main" chartId="{c61f3d4a-8755-433f-bfe9-41c32e5db4a5}"/>
      </c:ext>
    </c:extLst>
  </c:chart>
  <c:txPr>
    <a:bodyPr/>
    <a:lstStyle/>
    <a:p>
      <a:pPr>
        <a:defRPr lang="zh-CN" sz="1300">
          <a:solidFill>
            <a:srgbClr val="222222"/>
          </a:solidFill>
          <a:latin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一致率@0.5 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9AA3B5"/>
              </a:solidFill>
            </c:spPr>
          </c:dPt>
          <c:dPt>
            <c:idx val="1"/>
            <c:invertIfNegative val="0"/>
            <c:bubble3D val="0"/>
            <c:spPr>
              <a:solidFill>
                <a:srgbClr val="001E64"/>
              </a:solidFill>
            </c:spPr>
          </c:dPt>
          <c:dPt>
            <c:idx val="2"/>
            <c:invertIfNegative val="0"/>
            <c:bubble3D val="0"/>
            <c:spPr>
              <a:solidFill>
                <a:srgbClr val="C00000"/>
              </a:solidFill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300" b="0" i="0" u="none" strike="noStrike" kern="1200" baseline="0">
                    <a:solidFill>
                      <a:srgbClr val="222222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不修正</c:v>
                </c:pt>
                <c:pt idx="1">
                  <c:v>官方人工补丁</c:v>
                </c:pt>
                <c:pt idx="2">
                  <c:v>轨迹在线估计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0.09</c:v>
                </c:pt>
                <c:pt idx="1">
                  <c:v>0.59</c:v>
                </c:pt>
                <c:pt idx="2">
                  <c:v>0.69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222222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0"/>
        </c:scaling>
        <c:delete val="0"/>
        <c:axPos val="l"/>
        <c:majorGridlines>
          <c:spPr>
            <a:ln w="6350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222222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  <c:majorUnit val="0.2"/>
      </c:valAx>
    </c:plotArea>
    <c:plotVisOnly val="1"/>
    <c:dispBlanksAs val="gap"/>
    <c:showDLblsOverMax val="0"/>
    <c:extLst>
      <c:ext uri="{0b15fc19-7d7d-44ad-8c2d-2c3a37ce22c3}">
        <chartProps xmlns="https://web.wps.cn/et/2018/main" chartId="{93c85516-fa66-4de0-aa56-5e7e8bbec2a9}"/>
      </c:ext>
    </c:extLst>
  </c:chart>
  <c:txPr>
    <a:bodyPr/>
    <a:lstStyle/>
    <a:p>
      <a:pPr>
        <a:defRPr lang="zh-CN" sz="1300">
          <a:solidFill>
            <a:srgbClr val="222222"/>
          </a:solidFill>
          <a:latin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观测噪声 0.2 m</c:v>
                </c:pt>
              </c:strCache>
            </c:strRef>
          </c:tx>
          <c:spPr>
            <a:solidFill>
              <a:srgbClr val="001E64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222222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方向单一
（如均为直行）</c:v>
                </c:pt>
                <c:pt idx="1">
                  <c:v>中等</c:v>
                </c:pt>
                <c:pt idx="2">
                  <c:v>方向多样
（含转弯、横穿）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137</c:v>
                </c:pt>
                <c:pt idx="1">
                  <c:v>16</c:v>
                </c:pt>
                <c:pt idx="2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观测噪声 0.5 m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222222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方向单一
（如均为直行）</c:v>
                </c:pt>
                <c:pt idx="1">
                  <c:v>中等</c:v>
                </c:pt>
                <c:pt idx="2">
                  <c:v>方向多样
（含转弯、横穿）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342</c:v>
                </c:pt>
                <c:pt idx="1">
                  <c:v>41</c:v>
                </c:pt>
                <c:pt idx="2">
                  <c:v>32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222222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0"/>
          <c:min val="0"/>
        </c:scaling>
        <c:delete val="0"/>
        <c:axPos val="l"/>
        <c:majorGridlines>
          <c:spPr>
            <a:ln w="6350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222222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  <c:majorUnit val="100"/>
      </c:valAx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rgbClr val="222222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19db716-e6ce-43e0-9456-30caff192b68}"/>
      </c:ext>
    </c:extLst>
  </c:chart>
  <c:txPr>
    <a:bodyPr/>
    <a:lstStyle/>
    <a:p>
      <a:pPr>
        <a:defRPr lang="zh-CN" sz="1200">
          <a:solidFill>
            <a:srgbClr val="222222"/>
          </a:solidFill>
          <a:latin typeface="微软雅黑" panose="020B0503020204020204" charset="-122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84982-CE9B-4D35-9365-D7CFCFB427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F5DDE-60A4-438D-A63A-7E96D148ABE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大家好，我们小组这次《现代测量数据处理》课程展示的题目是《基于目标轨迹的车路时空误差估计与一致定位》。</a:t>
            </a:r>
          </a:p>
          <a:p/>
          <a:p>
            <a:r>
              <a:t>我们想讨论一个比较具体的问题：同一辆车被车载传感器和路侧传感器同时观测到了，为什么两边算出来的位置还会不一样？这种不一致，可能来自空间坐标的标定误差，也可能来自时间没有完全对齐。我们这次尝试从多源测量误差的角度分析这个问题，再利用连续的目标轨迹，做一个初步的联合估计和验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586AF-DB53-43BF-8002-D71CCF2903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主要分四部分。首先简单介绍车路协同场景，以及误差是从哪里来的；然后看一下已有研究通常怎么处理空间标定、时间同步和误差补偿。第三部分是重点，我们会结合数据集分析误差特点，介绍基于轨迹的估计方法和初步结果。最后做一个总结，也说明目前还没有解决的问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861678-F871-4BA5-BC3E-7CD7D2CF1E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车路协同是自动驾驶当中的一个常见任务，接下来我们简单介绍一下。</a:t>
            </a:r>
            <a:endParaRPr lang="zh-CN"/>
          </a:p>
          <a:p>
            <a:r>
              <a:rPr lang="zh-CN"/>
              <a:t>大家可以直接看图，车路协同顾名思义就是车与路测设备协同完成一些自动驾驶任务。</a:t>
            </a:r>
            <a:endParaRPr lang="zh-CN"/>
          </a:p>
          <a:p>
            <a:r>
              <a:rPr lang="zh-CN"/>
              <a:t>车端感知一般包含车载相机、激光雷达等传感器，还包含</a:t>
            </a:r>
            <a:r>
              <a:rPr lang="en-US" altLang="zh-CN"/>
              <a:t>gnss</a:t>
            </a:r>
            <a:r>
              <a:rPr lang="zh-CN" altLang="en-US"/>
              <a:t>定位系统以及</a:t>
            </a:r>
            <a:r>
              <a:rPr lang="en-US" altLang="zh-CN"/>
              <a:t>imu</a:t>
            </a:r>
            <a:r>
              <a:rPr lang="zh-CN" altLang="en-US"/>
              <a:t>等。路侧设备一般就是固定的相机和激光雷达等传感器。</a:t>
            </a:r>
            <a:endParaRPr lang="zh-CN" altLang="en-US"/>
          </a:p>
          <a:p>
            <a:r>
              <a:rPr lang="zh-CN" altLang="en-US"/>
              <a:t>在复杂路口仅靠车端感知有许多局限性，而</a:t>
            </a:r>
            <a:r>
              <a:rPr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车路协同（V2X）通过车辆与道路基础设施的信息交互，</a:t>
            </a:r>
            <a:r>
              <a:rPr lang="zh-CN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</a:t>
            </a:r>
            <a:r>
              <a:rPr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扩展感知范围并提升复杂交通场景下的环境感知能力。</a:t>
            </a:r>
            <a:endParaRPr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/>
              <a:t>车端和路侧</a:t>
            </a:r>
            <a:r>
              <a:t>通过 V2X 共享目标的位置、速度和时间戳，把不同视角的信息融合起来。</a:t>
            </a:r>
          </a:p>
          <a:p>
            <a:r>
              <a:rPr lang="zh-CN"/>
              <a:t>但我们做测绘的都知道，不同传感器都有各自的误差，组合起来会让误差变得更复杂。本次工作主要讨论的就是车路协同场景下的误差处理。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这一页大概展示了车路协同场景的坐标变化，可以看到车端目标要经过四次坐标变化才能投影到路测图像，每一环节都会引入误差。</a:t>
            </a:r>
            <a:endParaRPr lang="zh-CN"/>
          </a:p>
          <a:p>
            <a:r>
              <a:t>车端定位是逐帧估计的，会随车辆运动产生偏差；路侧传感器的安装外参虽然一般按固定参数使用，但可能受安装或环境因素影响；激光雷达到相机之间也有标定误差。另外，两端的时间戳不一定严格</a:t>
            </a:r>
            <a:r>
              <a:rPr lang="zh-CN"/>
              <a:t>同步</a:t>
            </a:r>
            <a:r>
              <a:t>。</a:t>
            </a:r>
          </a:p>
          <a:p/>
          <a:p>
            <a:r>
              <a:t>所以这不是简单修正一个平移量就能彻底解决的问题，而是多个测量环节的误差叠加。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在真实部署中，我们重点考虑三个现象。第一，路侧通常会通过结构化消息给车端发送目标的位置和速度，而不是直接发送原始相机图像。也就是说，如果路侧前面的坐标换算已经不准确，车端拿到的就是带误差的结果。</a:t>
            </a:r>
          </a:p>
          <a:p/>
          <a:p>
            <a:r>
              <a:t>第二是时间问题。这里举一个量级估算：如果两次观测实际错开了一百毫秒，而车辆速度是每秒十五米，那么对应的位置变化就有一点五米。需要说明，通信延迟不等于时钟偏差，这里只是用它帮助大家理解时间错位可能造成的影响。</a:t>
            </a:r>
          </a:p>
          <a:p/>
          <a:p>
            <a:r>
              <a:t>第三，路侧外参也并非永远精确。例如在五十米距离上，如果方向误差是零点五度，横向位置就可能差大约零点四四米。因此，空间标定和时间同步都值得持续关注。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前面介绍了问题的来源。接下来我们看已有研究都从哪些角度解决这些问题，以及这些方法和我们想做的事情有什么区别。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861678-F871-4BA5-BC3E-7CD7D2CF1E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我们把相关工作大致分成三类。第一类是空间外参标定，例如 V2I-Calib，主要关注不同传感器、不同设备之间的空间变换关系，输出的是外参参数。</a:t>
            </a:r>
          </a:p>
          <a:p/>
          <a:p>
            <a:r>
              <a:t>第二类是时空联合标定，除了空间关系还会考虑时间偏差。</a:t>
            </a:r>
          </a:p>
          <a:p/>
          <a:p>
            <a:r>
              <a:t>第三类是协同感知里的误差补偿，重点通常放在融合结果或者检测精度上，不一定明确输出可解释的标定参数。</a:t>
            </a:r>
          </a:p>
          <a:p/>
          <a:p>
            <a:r>
              <a:t>这三类工作都很有参考价值，但解决问题的侧重点不一样。对我们来说，更关心的是能不能利用车端和路侧都拥有的连续目标轨迹，在时间变化的情况下进行修正，并最终让两边对同一目标的定位更一致。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这一页用表格把几类代表性方法放在一起比较。可以重点看中间几个维度：有没有同时处理车端和路侧、有没有估计时间偏差、是不是在线处理，以及有没有考虑车端定位本身也可能有误差。</a:t>
            </a:r>
          </a:p>
          <a:p/>
          <a:p>
            <a:r>
              <a:t>比如有些方法能估计外参，但不处理时间偏差；有些方法可以改善最终检测，却不直接输出标定量。表格最后一行是我们</a:t>
            </a:r>
            <a:r>
              <a:rPr lang="zh-CN"/>
              <a:t>本次工作</a:t>
            </a:r>
            <a:r>
              <a:t>的设定：使用共同目标轨迹，考虑时变误差，并用车路一致率评价效果。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相关工作介绍完了，下面进入我们自己的分析。我们的思路其实经历过一次变化：最初想直接做在线标定，后来先检查了数据集里的标定参照，发现它本身也有偏差，最后才转向用车路定位的一致性来评价修正效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861678-F871-4BA5-BC3E-7CD7D2CF1E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v2x-seq</a:t>
            </a:r>
            <a:r>
              <a:rPr lang="zh-CN" altLang="en-US"/>
              <a:t>是车路协同任务常用的一个数据集，大家可以去</a:t>
            </a:r>
            <a:r>
              <a:rPr lang="en-US" altLang="zh-CN"/>
              <a:t>github</a:t>
            </a:r>
            <a:r>
              <a:rPr lang="zh-CN" altLang="en-US"/>
              <a:t>上自行了解，我就不详细介绍了。</a:t>
            </a:r>
            <a:endParaRPr lang="zh-CN" altLang="en-US"/>
          </a:p>
          <a:p>
            <a:r>
              <a:rPr lang="zh-CN"/>
              <a:t>这里</a:t>
            </a:r>
            <a:r>
              <a:t>一开始我们</a:t>
            </a:r>
            <a:r>
              <a:rPr lang="zh-CN"/>
              <a:t>是</a:t>
            </a:r>
            <a:r>
              <a:t>想估计路侧外参和车路时间偏差。但既然是标定，就要先问一句：数据集给出的外参能不能当作可靠真值？</a:t>
            </a:r>
          </a:p>
          <a:p/>
          <a:p>
            <a:r>
              <a:t>我们在 V2X-Seq 数据中发现，两端对同一个目标给出的位置，未修正时水平距离的中位数约为一点一米。而且数据集还提供了人工逐帧修正的偏移补丁，说明原始相对标定本身存在系统误差。</a:t>
            </a:r>
          </a:p>
          <a:p/>
          <a:p>
            <a:r>
              <a:t>下面的图更直观：绿色是路侧人工二维框，蓝色是车端三维框经过官方补丁后的投影。右边这个投影重合度，也就是 IoU，不加补丁是零点四八，加上补丁变成零点六零；按图像拟合的参考框能达到零点八四。也就是说，即使应用了官方修正，仍然存在明显的不一致。所以我们不能简单把数据集外参当成绝对准确的参照。</a:t>
            </a:r>
            <a:br/>
            <a:br/>
            <a:r>
              <a:rPr lang="zh-CN"/>
              <a:t>那既然数据集本身都不准，我该以什么为基准</a:t>
            </a:r>
            <a:r>
              <a:rPr lang="zh-CN"/>
              <a:t>呢？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进一步往下看，误差也不是只集中在车路之间的某一个变换上。这张图用的是同一个指标：三维框投影到路侧图像后，与人工二维框的 IoU 中位数。</a:t>
            </a:r>
          </a:p>
          <a:p/>
          <a:p>
            <a:r>
              <a:t>如果使用按照路侧图像拟合的三维框，数值是零点八四；换成路侧激光雷达对应的三维框，降到零点六八；再换成经车路坐标链变换过来的车端框，应用官方补丁后是零点六零。</a:t>
            </a:r>
          </a:p>
          <a:p/>
          <a:p>
            <a:r>
              <a:t>这说明路侧内部的激光雷达与相机环节，以及车路之间的坐标链，都值得检查。不过要说明，前面零点一六的差值不全是外参造成的，也混有标注方式和采样时间的差异；这些数值反映的是综合不一致，而不是对某一种误差的严格分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除了误差出现在哪一段，我们还想知道它是不是稳定的。所以这里分析了官方逐帧补丁，在六个路侧设备和六十七段车端序列中，看看误差如何变化。</a:t>
            </a:r>
          </a:p>
          <a:p/>
          <a:p>
            <a:r>
              <a:t>先看左图。补丁本身的大小中位数是零点九五米，但同一路侧设备在不同采集序列中共有的部分只有零点二米。相反，随采集序列变化的部分大约零点五二米，同一段序列内部的变化也有零点四九米。注意这几个数都是分别统计的中位数，不能直接相加。</a:t>
            </a:r>
          </a:p>
          <a:p/>
          <a:p>
            <a:r>
              <a:t>右边可以看到，车辆轨迹短时间内的抖动比较小，而偏移量通常是缓慢变化的。这提示我们，车端自身的定位偏差可能是重要来源，不能只把所有偏差归因于路侧外参。当然，仅靠人工补丁还不能把不同误差来源完全分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这就引出了一个思路转变。以前做标定，我们可能首先关心估计出来的参数和所谓真值差多少。但如果这个真值本身还需要人工逐帧修正，那么单纯比较外参就不一定合理。</a:t>
            </a:r>
          </a:p>
          <a:p/>
          <a:p>
            <a:r>
              <a:t>对于车路协同感知，更直接的需求是：车端和路侧看到同一个目标，最后给出的位置能不能对上。因此我们采用车路一致率这个指标。具体来说，把两边对同一目标的位置变换到统一坐标系，如果水平距离不超过零点五米，就记作一次一致，统计所有目标中满足条件的比例。</a:t>
            </a:r>
          </a:p>
          <a:p/>
          <a:p>
            <a:r>
              <a:t>这里还有一个边界需要说明：两边位置一致，不等于它们在绝对坐标系中一定准确。我们评价的是跨端测量的一致性，而不是绝对定位真值。</a:t>
            </a:r>
            <a:r>
              <a:rPr lang="zh-CN"/>
              <a:t>相当于是相对</a:t>
            </a:r>
            <a:r>
              <a:rPr lang="zh-CN"/>
              <a:t>定位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那为什么选择目标轨迹？因为它是车端和路侧都能连续获得的信息，而且一条轨迹同时包含空间变化和时间变化。</a:t>
            </a:r>
          </a:p>
          <a:p/>
          <a:p>
            <a:r>
              <a:t>看左边，如果空间坐标存在偏差，整条轨迹可能整体平移或者旋转。看中间，如果是时间偏差，同一运动目标的观测点会沿轨迹往前或者往后错开，近似的错位距离就是速度乘以时间偏差。</a:t>
            </a:r>
          </a:p>
          <a:p/>
          <a:p>
            <a:r>
              <a:t>最右边讲的是可观测性。假如所有目标都沿同一方向直行，那么时间错位和沿车道方向的空间平移看起来很像，参数就不容易分开；而当轨迹里有转弯、横穿等不同运动方向时，这两类误差更容易区分。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接下来是我们做的初步实验。先强调一下，这一页的结果不是深度学习网络输出，而是用一个线性化的轨迹残差模型，通过最小二乘来估计二维平移、偏航角和时间偏差。</a:t>
            </a:r>
          </a:p>
          <a:p/>
          <a:p>
            <a:r>
              <a:t>具体做法是：用前一秒内车端、路侧共同目标的轨迹估计修正量，再把这个修正量应用到后一秒的数据上评测，避免直接用同一时间的数据既估计又评价。左图一共统计了四万六千五百一十九个目标。在零点五米阈值下，不修正的一致率只有零点零九，官方人工补丁是零点五九，在线轨迹估计达到零点六九。对应的中位距离从一点一一米下降到零点三四米。</a:t>
            </a:r>
          </a:p>
          <a:p/>
          <a:p>
            <a:r>
              <a:t>右图则是人为注入已知时间偏差和观测噪声，再看能否把时间偏差估计回来。运动方向越多样，误差就越小；如果几乎都在直行，估计会明显变差。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基于前面的分析，我们</a:t>
            </a:r>
            <a:r>
              <a:rPr lang="zh-CN"/>
              <a:t>简单花了一下我们的</a:t>
            </a:r>
            <a:r>
              <a:t>目标级车路协同定位的模型框架。它属于下一步的方法设想，和上一页已经做完的最小二乘实验要区分开。</a:t>
            </a:r>
          </a:p>
          <a:p/>
          <a:p>
            <a:r>
              <a:t>左边输入的是车端和路侧的目标轨迹，两边分别带有定位或标定误差。第一阶段希望对空间外参和时间偏差做修正；其中涉及路侧相机外参的部分，还需要额外利用图像等约束。第二阶段再由目标级网络编码、关联和融合不同来源的轨迹，输出更一致的目标位置。</a:t>
            </a:r>
          </a:p>
          <a:p/>
          <a:p>
            <a:r>
              <a:t>如果继续实现，我们希望以车路一致率作为主要指标，同时在不同时间窗口和不同目标上做留出评测，并用路侧图像投影 IoU 进行独立验证，避免只用训练或拟合过的数据证明自己有效。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主要分析和方法介绍到这里。最后我用一页把关键发现、初步实验结果和目前的局限总结一下。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861678-F871-4BA5-BC3E-7CD7D2CF1E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最后总结四点。第一，车路之间确实存在多源测量不一致，未修正时，同一目标的位置差中位数约为一点一一米。第二，误差并不是一个固定常数，它在不同采集序列之间、甚至同一段序列内部都会变化。</a:t>
            </a:r>
          </a:p>
          <a:p/>
          <a:p>
            <a:r>
              <a:t>第三，我们尝试利用共同目标轨迹，同时估计平移、偏航角和时间偏差，核心工具是轨迹残差建模与最小二乘求解。第四，在目前的实验条件下，车路一致率从零点零九提升到零点六九，也优于官方人工补丁的零点五九。</a:t>
            </a:r>
          </a:p>
          <a:p/>
          <a:p>
            <a:r>
              <a:t>不过，这些还是基于线性模型、标注目标和已知关联得到的初步结果；真实检测误差、关联错误，以及完整神经网络方案都还需要后续验证。我们的主要结论是：目标轨迹可以为车路时空误差估计提供有效的共同观测。以上就是我们的汇报，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586AF-DB53-43BF-8002-D71CCF2903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-27305"/>
            <a:ext cx="12192000" cy="812800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335360" y="207998"/>
            <a:ext cx="384000" cy="288000"/>
          </a:xfrm>
          <a:prstGeom prst="rect">
            <a:avLst/>
          </a:prstGeom>
          <a:solidFill>
            <a:srgbClr val="CFD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11" name="矩形 10"/>
          <p:cNvSpPr/>
          <p:nvPr userDrawn="1"/>
        </p:nvSpPr>
        <p:spPr>
          <a:xfrm>
            <a:off x="527413" y="352038"/>
            <a:ext cx="288000" cy="216000"/>
          </a:xfrm>
          <a:prstGeom prst="rect">
            <a:avLst/>
          </a:prstGeom>
          <a:solidFill>
            <a:srgbClr val="537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13" name="矩形 12"/>
          <p:cNvSpPr/>
          <p:nvPr userDrawn="1"/>
        </p:nvSpPr>
        <p:spPr>
          <a:xfrm>
            <a:off x="0" y="785657"/>
            <a:ext cx="12192000" cy="72000"/>
          </a:xfrm>
          <a:prstGeom prst="rect">
            <a:avLst/>
          </a:prstGeom>
          <a:solidFill>
            <a:srgbClr val="CFD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lide Number Placeholder 5"/>
          <p:cNvSpPr txBox="1"/>
          <p:nvPr userDrawn="1"/>
        </p:nvSpPr>
        <p:spPr>
          <a:xfrm>
            <a:off x="11472333" y="6381750"/>
            <a:ext cx="719667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rgbClr val="203D88"/>
                </a:solidFill>
                <a:latin typeface="方正悠黑_513B" panose="02000000000000000000" pitchFamily="2" charset="-122"/>
                <a:ea typeface="方正悠黑_513B" panose="02000000000000000000" pitchFamily="2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9FFD6BF-F97A-4495-B095-1E583C47DD89}" type="slidenum">
              <a:rPr lang="zh-CN" altLang="en-US" sz="1800" smtClean="0"/>
            </a:fld>
            <a:endParaRPr lang="zh-CN" alt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0F1C1-5168-4E6E-8D45-3ED56E80BB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0E2DA-484D-44BE-A764-A45E9C67742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1540510"/>
            <a:ext cx="12192000" cy="2418080"/>
          </a:xfrm>
          <a:prstGeom prst="rect">
            <a:avLst/>
          </a:prstGeom>
          <a:solidFill>
            <a:srgbClr val="080E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830194" y="4563379"/>
            <a:ext cx="6531610" cy="193802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zh-CN" altLang="en-US" sz="2400" b="1" dirty="0">
                <a:ea typeface="等线" panose="02010600030101010101" charset="-122"/>
              </a:rPr>
              <a:t>汇 报 人：陈洋</a:t>
            </a:r>
            <a:endParaRPr lang="zh-CN" altLang="en-US" sz="2400" b="1" dirty="0">
              <a:ea typeface="等线" panose="02010600030101010101" charset="-122"/>
            </a:endParaRPr>
          </a:p>
          <a:p>
            <a:pPr algn="ctr"/>
            <a:r>
              <a:rPr lang="zh-CN" altLang="en-US" sz="2400" b="1" dirty="0">
                <a:ea typeface="等线" panose="02010600030101010101" charset="-122"/>
              </a:rPr>
              <a:t>第</a:t>
            </a:r>
            <a:r>
              <a:rPr lang="en-US" altLang="zh-CN" sz="2400" b="1" dirty="0">
                <a:ea typeface="等线" panose="02010600030101010101" charset="-122"/>
              </a:rPr>
              <a:t>2</a:t>
            </a:r>
            <a:r>
              <a:rPr lang="zh-CN" altLang="en-US" sz="2400" b="1" dirty="0">
                <a:ea typeface="等线" panose="02010600030101010101" charset="-122"/>
              </a:rPr>
              <a:t>组</a:t>
            </a:r>
            <a:r>
              <a:rPr lang="en-US" altLang="zh-CN" sz="2400" b="1" dirty="0">
                <a:ea typeface="等线" panose="02010600030101010101" charset="-122"/>
              </a:rPr>
              <a:t> </a:t>
            </a:r>
            <a:r>
              <a:rPr lang="zh-CN" altLang="en-US" sz="2400" b="1" dirty="0">
                <a:ea typeface="等线" panose="02010600030101010101" charset="-122"/>
              </a:rPr>
              <a:t>徐睿秋，石嘉馨，彭曼凌，毕英楠，陈洋</a:t>
            </a:r>
            <a:endParaRPr lang="zh-CN" dirty="0"/>
          </a:p>
          <a:p>
            <a:pPr algn="ctr"/>
            <a:endParaRPr lang="en-US" altLang="zh-CN" sz="2400" b="1" dirty="0"/>
          </a:p>
          <a:p>
            <a:pPr algn="ctr"/>
            <a:endParaRPr lang="en-US" altLang="zh-CN" sz="2400" b="1" dirty="0"/>
          </a:p>
          <a:p>
            <a:pPr algn="ctr"/>
            <a:r>
              <a:rPr lang="en-US" altLang="zh-CN" sz="2400" b="1" dirty="0">
                <a:ea typeface="等线" panose="02010600030101010101" charset="-122"/>
              </a:rPr>
              <a:t>2026年10月20日</a:t>
            </a:r>
            <a:endParaRPr lang="zh-CN" altLang="en-US" sz="2400" b="1" dirty="0">
              <a:ea typeface="等线" panose="02010600030101010101" charset="-122"/>
            </a:endParaRPr>
          </a:p>
        </p:txBody>
      </p:sp>
      <p:sp>
        <p:nvSpPr>
          <p:cNvPr id="6" name="标题占位符 1"/>
          <p:cNvSpPr txBox="1"/>
          <p:nvPr/>
        </p:nvSpPr>
        <p:spPr>
          <a:xfrm>
            <a:off x="237854" y="1898681"/>
            <a:ext cx="11716290" cy="1584176"/>
          </a:xfrm>
          <a:prstGeom prst="rect">
            <a:avLst/>
          </a:prstGeom>
        </p:spPr>
        <p:txBody>
          <a:bodyPr vert="horz" lIns="91431" tIns="45716" rIns="91431" bIns="45716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zh-CN" altLang="en-US" sz="4800" b="1" kern="1200">
                <a:solidFill>
                  <a:schemeClr val="tx1"/>
                </a:solidFill>
                <a:effectLst/>
                <a:latin typeface="+mj-lt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Times New Roman" panose="02020603050405020304" pitchFamily="18" charset="0"/>
              </a:rPr>
              <a:t>基于目标轨迹的车路时空误差估计</a:t>
            </a:r>
            <a:endParaRPr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Times New Roman" panose="02020603050405020304" pitchFamily="18" charset="0"/>
              </a:rPr>
              <a:t>与一致定位</a:t>
            </a:r>
            <a:endParaRPr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32" y="132931"/>
            <a:ext cx="391477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 descr="图标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729" y="96171"/>
            <a:ext cx="6393734" cy="6384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5302" y="67311"/>
            <a:ext cx="2818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汇报提纲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6" name="6"/>
          <p:cNvSpPr/>
          <p:nvPr/>
        </p:nvSpPr>
        <p:spPr bwMode="auto">
          <a:xfrm rot="5400000">
            <a:off x="5527078" y="4808872"/>
            <a:ext cx="723270" cy="628873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203D8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4"/>
          <p:cNvSpPr txBox="1"/>
          <p:nvPr>
            <p:custDataLst>
              <p:tags r:id="rId1"/>
            </p:custDataLst>
          </p:nvPr>
        </p:nvSpPr>
        <p:spPr>
          <a:xfrm>
            <a:off x="4916145" y="4829620"/>
            <a:ext cx="1951077" cy="57926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04</a:t>
            </a:r>
            <a:endParaRPr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6"/>
          <p:cNvSpPr/>
          <p:nvPr/>
        </p:nvSpPr>
        <p:spPr bwMode="auto">
          <a:xfrm rot="5400000">
            <a:off x="5509409" y="2848748"/>
            <a:ext cx="723270" cy="628873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203D8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4"/>
          <p:cNvSpPr txBox="1"/>
          <p:nvPr>
            <p:custDataLst>
              <p:tags r:id="rId2"/>
            </p:custDataLst>
          </p:nvPr>
        </p:nvSpPr>
        <p:spPr>
          <a:xfrm>
            <a:off x="4898476" y="2869496"/>
            <a:ext cx="1951077" cy="57926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6"/>
          <p:cNvSpPr/>
          <p:nvPr/>
        </p:nvSpPr>
        <p:spPr bwMode="auto">
          <a:xfrm rot="5400000">
            <a:off x="5517766" y="3828810"/>
            <a:ext cx="723270" cy="628873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203D8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4"/>
          <p:cNvSpPr txBox="1"/>
          <p:nvPr>
            <p:custDataLst>
              <p:tags r:id="rId3"/>
            </p:custDataLst>
          </p:nvPr>
        </p:nvSpPr>
        <p:spPr>
          <a:xfrm>
            <a:off x="4906833" y="3849558"/>
            <a:ext cx="1951077" cy="57926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6"/>
          <p:cNvSpPr/>
          <p:nvPr/>
        </p:nvSpPr>
        <p:spPr bwMode="auto">
          <a:xfrm rot="5400000">
            <a:off x="5524107" y="1868686"/>
            <a:ext cx="723270" cy="628873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203D8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4"/>
          <p:cNvSpPr txBox="1"/>
          <p:nvPr>
            <p:custDataLst>
              <p:tags r:id="rId4"/>
            </p:custDataLst>
          </p:nvPr>
        </p:nvSpPr>
        <p:spPr>
          <a:xfrm>
            <a:off x="4913174" y="1889434"/>
            <a:ext cx="1951077" cy="57926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638946" y="1851902"/>
            <a:ext cx="2377440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38946" y="2892839"/>
            <a:ext cx="2377440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相关工作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638946" y="3868224"/>
            <a:ext cx="2377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Line 234"/>
          <p:cNvSpPr>
            <a:spLocks noChangeShapeType="1"/>
          </p:cNvSpPr>
          <p:nvPr/>
        </p:nvSpPr>
        <p:spPr bwMode="gray">
          <a:xfrm>
            <a:off x="6189658" y="3417296"/>
            <a:ext cx="2736000" cy="22108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234"/>
          <p:cNvSpPr>
            <a:spLocks noChangeShapeType="1"/>
          </p:cNvSpPr>
          <p:nvPr/>
        </p:nvSpPr>
        <p:spPr bwMode="gray">
          <a:xfrm flipV="1">
            <a:off x="6189658" y="4389580"/>
            <a:ext cx="2736000" cy="19621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234"/>
          <p:cNvSpPr>
            <a:spLocks noChangeShapeType="1"/>
          </p:cNvSpPr>
          <p:nvPr/>
        </p:nvSpPr>
        <p:spPr bwMode="gray">
          <a:xfrm>
            <a:off x="6189658" y="5401107"/>
            <a:ext cx="2736000" cy="5303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234"/>
          <p:cNvSpPr>
            <a:spLocks noChangeShapeType="1"/>
          </p:cNvSpPr>
          <p:nvPr/>
        </p:nvSpPr>
        <p:spPr bwMode="gray">
          <a:xfrm flipV="1">
            <a:off x="6189657" y="2418240"/>
            <a:ext cx="2736000" cy="7150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154743" y="2324438"/>
            <a:ext cx="1226443" cy="2209124"/>
            <a:chOff x="1715701" y="2457384"/>
            <a:chExt cx="1226443" cy="2209124"/>
          </a:xfrm>
        </p:grpSpPr>
        <p:sp>
          <p:nvSpPr>
            <p:cNvPr id="3" name="大橘原创PPT模板-请勿抄袭搬运！微信DAJU_PPT"/>
            <p:cNvSpPr/>
            <p:nvPr/>
          </p:nvSpPr>
          <p:spPr>
            <a:xfrm>
              <a:off x="1715701" y="2457384"/>
              <a:ext cx="652742" cy="801630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目</a:t>
              </a:r>
              <a:r>
                <a:rPr kumimoji="0" lang="en-US" altLang="zh-CN" sz="44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cs typeface="+mn-ea"/>
                  <a:sym typeface="+mn-lt"/>
                </a:rPr>
                <a:t>  </a:t>
              </a:r>
              <a:endPara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大橘原创PPT模板-请勿抄袭搬运！微信DAJU_PPT"/>
            <p:cNvSpPr/>
            <p:nvPr/>
          </p:nvSpPr>
          <p:spPr>
            <a:xfrm>
              <a:off x="2193221" y="3062502"/>
              <a:ext cx="748923" cy="769441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录</a:t>
              </a: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" name="大橘原创PPT模板-请勿抄袭搬运！微信DAJU_PPT"/>
            <p:cNvSpPr/>
            <p:nvPr/>
          </p:nvSpPr>
          <p:spPr>
            <a:xfrm>
              <a:off x="1802743" y="3197644"/>
              <a:ext cx="523220" cy="1468864"/>
            </a:xfrm>
            <a:prstGeom prst="rect">
              <a:avLst/>
            </a:prstGeom>
          </p:spPr>
          <p:txBody>
            <a:bodyPr vert="eaVert"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cs typeface="+mn-ea"/>
                  <a:sym typeface="+mn-lt"/>
                </a:rPr>
                <a:t>CONTENTS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6638946" y="4801827"/>
            <a:ext cx="2377440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总结展望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895302" y="67311"/>
            <a:ext cx="76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60570" y="75426"/>
            <a:ext cx="10668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车路协同场景简介</a:t>
            </a:r>
            <a:endParaRPr lang="zh-CN" altLang="en-US" sz="3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" y="1104201"/>
            <a:ext cx="10991088" cy="2787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车路协同（V2X）通过车辆与道路基础设施的信息交互，扩展感知范围并提升复杂交通场景下的环境感知能力。</a:t>
            </a:r>
            <a:endParaRPr sz="165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1636776"/>
            <a:ext cx="7022592" cy="4014215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7240" y="1810512"/>
            <a:ext cx="1527048" cy="347472"/>
          </a:xfrm>
          <a:prstGeom prst="round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6968" y="1878394"/>
            <a:ext cx="1307592" cy="202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典型城市路口示意</a:t>
            </a:r>
            <a:endParaRPr sz="1200" b="1">
              <a:solidFill>
                <a:srgbClr val="203D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41832" y="3154680"/>
            <a:ext cx="6281928" cy="1307592"/>
          </a:xfrm>
          <a:prstGeom prst="rect">
            <a:avLst/>
          </a:prstGeom>
          <a:solidFill>
            <a:srgbClr val="C9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429000" y="2267712"/>
            <a:ext cx="1380744" cy="3136392"/>
          </a:xfrm>
          <a:prstGeom prst="rect">
            <a:avLst/>
          </a:prstGeom>
          <a:solidFill>
            <a:srgbClr val="C9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941832" y="3154680"/>
            <a:ext cx="248716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09744" y="3154680"/>
            <a:ext cx="2414016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41832" y="4462272"/>
            <a:ext cx="248716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09744" y="4462272"/>
            <a:ext cx="2414016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2267712"/>
            <a:ext cx="0" cy="88696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09744" y="2267712"/>
            <a:ext cx="0" cy="88696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429000" y="4462272"/>
            <a:ext cx="0" cy="94183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809744" y="4462272"/>
            <a:ext cx="0" cy="94183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143000" y="3790187"/>
            <a:ext cx="347472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83080" y="3790187"/>
            <a:ext cx="347472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423160" y="3790187"/>
            <a:ext cx="347472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983480" y="3790187"/>
            <a:ext cx="347472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623560" y="3790187"/>
            <a:ext cx="347472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263640" y="3790187"/>
            <a:ext cx="347472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105656" y="2359152"/>
            <a:ext cx="32004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105656" y="2715768"/>
            <a:ext cx="32004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105656" y="4608576"/>
            <a:ext cx="32004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105656" y="4974336"/>
            <a:ext cx="32004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511296" y="2889504"/>
            <a:ext cx="137160" cy="2011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511296" y="4553712"/>
            <a:ext cx="137160" cy="2011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762756" y="2889504"/>
            <a:ext cx="137160" cy="2011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762756" y="4553712"/>
            <a:ext cx="137160" cy="2011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014215" y="2889504"/>
            <a:ext cx="137160" cy="2011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014215" y="4553712"/>
            <a:ext cx="137160" cy="2011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265676" y="2889504"/>
            <a:ext cx="137160" cy="2011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65676" y="4553712"/>
            <a:ext cx="137160" cy="2011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517136" y="2889504"/>
            <a:ext cx="137160" cy="2011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517136" y="4553712"/>
            <a:ext cx="137160" cy="2011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444752" y="3364992"/>
            <a:ext cx="777240" cy="393192"/>
          </a:xfrm>
          <a:prstGeom prst="round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1598828" y="3394481"/>
            <a:ext cx="356158" cy="334213"/>
          </a:xfrm>
          <a:prstGeom prst="roundRect">
            <a:avLst/>
          </a:prstGeom>
          <a:solidFill>
            <a:srgbClr val="D9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998421" y="3412175"/>
            <a:ext cx="138988" cy="298825"/>
          </a:xfrm>
          <a:prstGeom prst="roundRect">
            <a:avLst/>
          </a:prstGeom>
          <a:solidFill>
            <a:srgbClr val="B5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538020" y="3323844"/>
            <a:ext cx="173736" cy="64008"/>
          </a:xfrm>
          <a:prstGeom prst="rect">
            <a:avLst/>
          </a:prstGeom>
          <a:solidFill>
            <a:srgbClr val="39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954987" y="3323844"/>
            <a:ext cx="173736" cy="64008"/>
          </a:xfrm>
          <a:prstGeom prst="rect">
            <a:avLst/>
          </a:prstGeom>
          <a:solidFill>
            <a:srgbClr val="39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538020" y="3739896"/>
            <a:ext cx="173736" cy="64008"/>
          </a:xfrm>
          <a:prstGeom prst="rect">
            <a:avLst/>
          </a:prstGeom>
          <a:solidFill>
            <a:srgbClr val="39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954987" y="3739896"/>
            <a:ext cx="173736" cy="64008"/>
          </a:xfrm>
          <a:prstGeom prst="rect">
            <a:avLst/>
          </a:prstGeom>
          <a:solidFill>
            <a:srgbClr val="39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486400" y="3986784"/>
            <a:ext cx="740664" cy="356616"/>
          </a:xfrm>
          <a:prstGeom prst="roundRect">
            <a:avLst/>
          </a:prstGeom>
          <a:solidFill>
            <a:srgbClr val="D08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5632063" y="4013530"/>
            <a:ext cx="341162" cy="303123"/>
          </a:xfrm>
          <a:prstGeom prst="roundRect">
            <a:avLst/>
          </a:prstGeom>
          <a:solidFill>
            <a:srgbClr val="D9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5548853" y="4029577"/>
            <a:ext cx="133136" cy="271028"/>
          </a:xfrm>
          <a:prstGeom prst="roundRect">
            <a:avLst/>
          </a:prstGeom>
          <a:solidFill>
            <a:srgbClr val="B5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573816" y="3945636"/>
            <a:ext cx="166420" cy="64008"/>
          </a:xfrm>
          <a:prstGeom prst="rect">
            <a:avLst/>
          </a:prstGeom>
          <a:solidFill>
            <a:srgbClr val="39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973226" y="3945636"/>
            <a:ext cx="166420" cy="64008"/>
          </a:xfrm>
          <a:prstGeom prst="rect">
            <a:avLst/>
          </a:prstGeom>
          <a:solidFill>
            <a:srgbClr val="39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573816" y="4325112"/>
            <a:ext cx="166420" cy="64008"/>
          </a:xfrm>
          <a:prstGeom prst="rect">
            <a:avLst/>
          </a:prstGeom>
          <a:solidFill>
            <a:srgbClr val="39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973226" y="4325112"/>
            <a:ext cx="166420" cy="64008"/>
          </a:xfrm>
          <a:prstGeom prst="rect">
            <a:avLst/>
          </a:prstGeom>
          <a:solidFill>
            <a:srgbClr val="39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776472" y="2459736"/>
            <a:ext cx="438912" cy="658368"/>
          </a:xfrm>
          <a:prstGeom prst="roundRect">
            <a:avLst/>
          </a:prstGeom>
          <a:solidFill>
            <a:srgbClr val="7B9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3831336" y="2624328"/>
            <a:ext cx="320040" cy="192024"/>
          </a:xfrm>
          <a:prstGeom prst="roundRect">
            <a:avLst/>
          </a:prstGeom>
          <a:solidFill>
            <a:srgbClr val="DC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3831336" y="2898648"/>
            <a:ext cx="320040" cy="137160"/>
          </a:xfrm>
          <a:prstGeom prst="roundRect">
            <a:avLst/>
          </a:prstGeom>
          <a:solidFill>
            <a:srgbClr val="DC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340096" y="3904487"/>
            <a:ext cx="1033271" cy="530352"/>
          </a:xfrm>
          <a:prstGeom prst="roundRect">
            <a:avLst/>
          </a:prstGeom>
          <a:noFill/>
          <a:ln w="20320">
            <a:solidFill>
              <a:srgbClr val="D08E4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565392" y="2651760"/>
            <a:ext cx="41148" cy="566928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455664" y="2560320"/>
            <a:ext cx="265176" cy="137160"/>
          </a:xfrm>
          <a:prstGeom prst="round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675120" y="2642616"/>
            <a:ext cx="118872" cy="109728"/>
          </a:xfrm>
          <a:prstGeom prst="roundRect">
            <a:avLst/>
          </a:prstGeom>
          <a:solidFill>
            <a:srgbClr val="769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6684264" y="2660904"/>
            <a:ext cx="50292" cy="50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748272" y="2660904"/>
            <a:ext cx="29260" cy="292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Arc 71"/>
          <p:cNvSpPr/>
          <p:nvPr/>
        </p:nvSpPr>
        <p:spPr>
          <a:xfrm rot="18900000">
            <a:off x="6345936" y="2386584"/>
            <a:ext cx="502920" cy="448056"/>
          </a:xfrm>
          <a:prstGeom prst="arc">
            <a:avLst/>
          </a:prstGeom>
          <a:noFill/>
          <a:ln w="20320">
            <a:solidFill>
              <a:srgbClr val="4B7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Arc 72"/>
          <p:cNvSpPr/>
          <p:nvPr/>
        </p:nvSpPr>
        <p:spPr>
          <a:xfrm rot="18900000">
            <a:off x="6263640" y="2313432"/>
            <a:ext cx="685800" cy="603504"/>
          </a:xfrm>
          <a:prstGeom prst="arc">
            <a:avLst/>
          </a:prstGeom>
          <a:noFill/>
          <a:ln w="20320">
            <a:solidFill>
              <a:srgbClr val="4B7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1014984" y="4892040"/>
            <a:ext cx="2029968" cy="356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78992" y="4974462"/>
            <a:ext cx="1901952" cy="191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车端 · 传感器与定位</a:t>
            </a:r>
            <a:endParaRPr sz="1140" b="1">
              <a:solidFill>
                <a:srgbClr val="203D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6" name="Connector 75"/>
          <p:cNvCxnSpPr/>
          <p:nvPr/>
        </p:nvCxnSpPr>
        <p:spPr>
          <a:xfrm flipH="1" flipV="1">
            <a:off x="1892807" y="4434840"/>
            <a:ext cx="100585" cy="457200"/>
          </a:xfrm>
          <a:prstGeom prst="line">
            <a:avLst/>
          </a:prstGeom>
          <a:ln w="15240">
            <a:solidFill>
              <a:srgbClr val="203D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4745736" y="1892807"/>
            <a:ext cx="2340864" cy="365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809744" y="1984564"/>
            <a:ext cx="2212848" cy="182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路侧 · 摄像头 / 雷达 / RSU</a:t>
            </a:r>
            <a:endParaRPr sz="108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9" name="Connector 78"/>
          <p:cNvCxnSpPr/>
          <p:nvPr/>
        </p:nvCxnSpPr>
        <p:spPr>
          <a:xfrm>
            <a:off x="6428232" y="2267712"/>
            <a:ext cx="109728" cy="292608"/>
          </a:xfrm>
          <a:prstGeom prst="line">
            <a:avLst/>
          </a:prstGeom>
          <a:ln w="15240">
            <a:solidFill>
              <a:srgbClr val="203D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5943600" y="2843784"/>
            <a:ext cx="448056" cy="54864"/>
          </a:xfrm>
          <a:prstGeom prst="line">
            <a:avLst/>
          </a:prstGeom>
          <a:ln w="26670">
            <a:solidFill>
              <a:srgbClr val="4B78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2148840" y="2898648"/>
            <a:ext cx="3794760" cy="338328"/>
          </a:xfrm>
          <a:prstGeom prst="line">
            <a:avLst/>
          </a:prstGeom>
          <a:ln w="26670">
            <a:solidFill>
              <a:srgbClr val="4B78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3072384" y="2770632"/>
            <a:ext cx="1984248" cy="329184"/>
          </a:xfrm>
          <a:prstGeom prst="roundRect">
            <a:avLst/>
          </a:prstGeom>
          <a:solidFill>
            <a:srgbClr val="EAF1FA"/>
          </a:solidFill>
          <a:ln w="10160">
            <a:solidFill>
              <a:srgbClr val="C4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136391" y="2840926"/>
            <a:ext cx="1856231" cy="1885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V2X 目标信息交互</a:t>
            </a:r>
            <a:endParaRPr sz="1120" b="1">
              <a:solidFill>
                <a:srgbClr val="203D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1060704" y="5449824"/>
            <a:ext cx="96012" cy="96012"/>
          </a:xfrm>
          <a:prstGeom prst="ellipse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197864" y="5414582"/>
            <a:ext cx="96012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车端观测</a:t>
            </a:r>
            <a:endParaRPr sz="960" b="1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2322576" y="5449824"/>
            <a:ext cx="96012" cy="96012"/>
          </a:xfrm>
          <a:prstGeom prst="ellipse">
            <a:avLst/>
          </a:prstGeom>
          <a:solidFill>
            <a:srgbClr val="D08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459736" y="5414582"/>
            <a:ext cx="96012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路侧目标</a:t>
            </a:r>
            <a:endParaRPr sz="960" b="1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8" name="Connector 87"/>
          <p:cNvCxnSpPr/>
          <p:nvPr/>
        </p:nvCxnSpPr>
        <p:spPr>
          <a:xfrm>
            <a:off x="3657600" y="5486400"/>
            <a:ext cx="365760" cy="0"/>
          </a:xfrm>
          <a:prstGeom prst="line">
            <a:avLst/>
          </a:prstGeom>
          <a:ln w="20320">
            <a:solidFill>
              <a:srgbClr val="4B78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105656" y="5414582"/>
            <a:ext cx="96012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通信共享</a:t>
            </a:r>
            <a:endParaRPr sz="960" b="1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7799831" y="1636776"/>
            <a:ext cx="3813048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Oval 91"/>
          <p:cNvSpPr/>
          <p:nvPr/>
        </p:nvSpPr>
        <p:spPr>
          <a:xfrm>
            <a:off x="8001000" y="1810512"/>
            <a:ext cx="365760" cy="365760"/>
          </a:xfrm>
          <a:prstGeom prst="ellipse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8001000" y="1875282"/>
            <a:ext cx="365760" cy="236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8494776" y="1845882"/>
            <a:ext cx="2825496" cy="304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车端感知</a:t>
            </a:r>
            <a:endParaRPr sz="18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8055863" y="2249424"/>
            <a:ext cx="3374136" cy="473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车载相机、激光雷达与定位系统</a:t>
            </a:r>
            <a:endParaRPr sz="1230" b="1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获取周围目标及自车运动信息</a:t>
            </a:r>
            <a:endParaRPr sz="1230" b="1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7799831" y="3017520"/>
            <a:ext cx="3813048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8001000" y="3191256"/>
            <a:ext cx="365760" cy="365760"/>
          </a:xfrm>
          <a:prstGeom prst="ellipse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001000" y="3256025"/>
            <a:ext cx="365760" cy="236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494776" y="3226625"/>
            <a:ext cx="2825496" cy="304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路侧感知</a:t>
            </a:r>
            <a:endParaRPr sz="18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055863" y="3630168"/>
            <a:ext cx="3374136" cy="473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路口相机、雷达覆盖更广区域</a:t>
            </a:r>
            <a:endParaRPr sz="1230" b="1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补充车端遮挡区域与感知盲区</a:t>
            </a:r>
            <a:endParaRPr sz="1230" b="1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7799831" y="4398264"/>
            <a:ext cx="3813048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8001000" y="4572000"/>
            <a:ext cx="365760" cy="365760"/>
          </a:xfrm>
          <a:prstGeom prst="ellipse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8001000" y="4636770"/>
            <a:ext cx="365760" cy="236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8494776" y="4607370"/>
            <a:ext cx="2825496" cy="304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信息共享</a:t>
            </a:r>
            <a:endParaRPr sz="18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055863" y="5010912"/>
            <a:ext cx="3374136" cy="473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 V2X 共享位置、速度、时间戳</a:t>
            </a:r>
            <a:endParaRPr sz="1230" b="1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支持跨视角的目标关联与融合</a:t>
            </a:r>
            <a:endParaRPr sz="1230" b="1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658368" y="6151372"/>
            <a:ext cx="164592" cy="164592"/>
          </a:xfrm>
          <a:prstGeom prst="rect">
            <a:avLst/>
          </a:prstGeom>
          <a:solidFill>
            <a:srgbClr val="C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960120" y="6028690"/>
            <a:ext cx="10744200" cy="287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车路协同以多源观测互补为基础，而可靠融合的前提是空间坐标与时间基准的一致。</a:t>
            </a:r>
            <a:endParaRPr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895302" y="67311"/>
            <a:ext cx="76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60570" y="75426"/>
            <a:ext cx="10668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车路协同的时空坐标链</a:t>
            </a:r>
            <a:endParaRPr lang="zh-CN" altLang="en-US" sz="3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路侧感知视野广、遮挡少；车端使用路侧结果的前提，是两端对同一目标的时空坐标一致。</a:t>
            </a:r>
            <a:endParaRPr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251460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20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车端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激光雷达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880360" y="251460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世界坐标系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212080" y="251460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路侧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激光雷达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543800" y="251460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路侧相机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875520" y="251460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路侧图像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2340864" y="2994660"/>
            <a:ext cx="484632" cy="0"/>
          </a:xfrm>
          <a:prstGeom prst="line">
            <a:avLst/>
          </a:prstGeom>
          <a:ln w="285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783080" y="1783080"/>
            <a:ext cx="1600200" cy="685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车端定位</a:t>
            </a:r>
            <a:endParaRPr sz="13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逐帧变化</a:t>
            </a:r>
            <a:endParaRPr sz="13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4672583" y="2994660"/>
            <a:ext cx="484633" cy="0"/>
          </a:xfrm>
          <a:prstGeom prst="line">
            <a:avLst/>
          </a:prstGeom>
          <a:ln w="285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1783080"/>
            <a:ext cx="1600200" cy="685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路侧安装外参</a:t>
            </a:r>
            <a:endParaRPr sz="13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固定</a:t>
            </a:r>
            <a:endParaRPr sz="13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7004303" y="2994660"/>
            <a:ext cx="484633" cy="0"/>
          </a:xfrm>
          <a:prstGeom prst="line">
            <a:avLst/>
          </a:prstGeom>
          <a:ln w="285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46520" y="1783080"/>
            <a:ext cx="1600200" cy="685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激光雷达–相机外参</a:t>
            </a:r>
            <a:endParaRPr sz="13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固定</a:t>
            </a:r>
            <a:endParaRPr sz="13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9336024" y="2994660"/>
            <a:ext cx="484632" cy="0"/>
          </a:xfrm>
          <a:prstGeom prst="line">
            <a:avLst/>
          </a:prstGeom>
          <a:ln w="285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778240" y="1783080"/>
            <a:ext cx="1600200" cy="685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相机内参</a:t>
            </a:r>
            <a:endParaRPr sz="13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623060" y="3794760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车端定位误差</a:t>
            </a:r>
            <a:endParaRPr sz="13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485900" y="36393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954780" y="3794760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1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路侧安装外参误差</a:t>
            </a:r>
            <a:endParaRPr sz="13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受热形变、振动</a:t>
            </a:r>
            <a:endParaRPr sz="13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3817620" y="3639312"/>
            <a:ext cx="347472" cy="347472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286500" y="3794760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1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激光雷达–相机</a:t>
            </a:r>
            <a:endParaRPr sz="13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外参误差</a:t>
            </a:r>
            <a:endParaRPr sz="13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149340" y="3639312"/>
            <a:ext cx="347472" cy="347472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1417319" y="4983480"/>
            <a:ext cx="9326881" cy="0"/>
          </a:xfrm>
          <a:prstGeom prst="line">
            <a:avLst/>
          </a:prstGeom>
          <a:ln w="22225">
            <a:solidFill>
              <a:srgbClr val="001E64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743200" y="5138928"/>
            <a:ext cx="347472" cy="347472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54680" y="512064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车路时钟仅粗同步：同名时刻的两端观测并不对应同一物理时刻</a:t>
            </a:r>
            <a:endParaRPr sz="14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144000" y="38404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红</a:t>
            </a:r>
            <a:r>
              <a: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：各车不同</a:t>
            </a:r>
            <a:endParaRPr sz="12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蓝</a:t>
            </a:r>
            <a:r>
              <a: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：各车共用</a:t>
            </a:r>
            <a:endParaRPr sz="12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8640" y="589788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车端目标需经四次坐标变换才能投影到路侧图像，每一环节都会引入误差。</a:t>
            </a:r>
            <a:endParaRPr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895302" y="67311"/>
            <a:ext cx="76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60570" y="75426"/>
            <a:ext cx="10668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部署中的标定与时钟误差</a:t>
            </a:r>
            <a:endParaRPr lang="zh-CN" altLang="en-US" sz="3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3520440" cy="457200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1261872"/>
            <a:ext cx="420624" cy="420624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98448" y="1261872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路侧下发结构化目标列表</a:t>
            </a:r>
            <a:endParaRPr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1874519"/>
            <a:ext cx="31089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按国内 C-V2X 应用层标准，路侧广播目标位置、速度等结构化信息，而非原始图像。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位置已经过路侧标定换算，标定误差直接进入下发结果，车端无法借助原始图像修正。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目标列表随时间连续下发，车端由此可获得路侧观测的目标轨迹。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297679" y="1097280"/>
            <a:ext cx="3520440" cy="457200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26279" y="1261872"/>
            <a:ext cx="420624" cy="420624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47488" y="1261872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车路时钟仅粗同步</a:t>
            </a:r>
            <a:endParaRPr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26279" y="1874519"/>
            <a:ext cx="31089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依赖卫星或网络授时；文献报道车路通信端到端时延约 100 ms 量级。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多数时延补偿方法假设时延已知；数据集论文亦指出车路时间戳存在偏差。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80559" y="4343400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1.5 m</a:t>
            </a:r>
            <a:endParaRPr sz="3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80559" y="4946904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量级估算：时差 100 ms、车速 15 m/s</a:t>
            </a:r>
            <a:endParaRPr sz="12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46719" y="1097280"/>
            <a:ext cx="3520440" cy="457200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75319" y="1261872"/>
            <a:ext cx="420624" cy="420624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96528" y="1261872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路侧外参存在漂移</a:t>
            </a:r>
            <a:endParaRPr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75319" y="1874519"/>
            <a:ext cx="31089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文献报道灯杆受热产生缓慢形变，重型车辆通过时引起短时振动。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一次性离线标定难以长期保持精度。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29599" y="4343400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0.44 m</a:t>
            </a:r>
            <a:endParaRPr sz="3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599" y="4946904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量级估算：旋转误差 0.5°、距离 50 m</a:t>
            </a:r>
            <a:endParaRPr sz="12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8640" y="589788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车端接收的是已经过路侧标定换算的坐标，其精度受标定与时钟同步制约，而二者在部署中都会随时间变化。</a:t>
            </a:r>
            <a:endParaRPr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5302" y="67311"/>
            <a:ext cx="2818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汇报提纲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6" name="6"/>
          <p:cNvSpPr/>
          <p:nvPr/>
        </p:nvSpPr>
        <p:spPr bwMode="auto">
          <a:xfrm rot="5400000">
            <a:off x="5527078" y="4808872"/>
            <a:ext cx="723270" cy="628873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203D8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4"/>
          <p:cNvSpPr txBox="1"/>
          <p:nvPr>
            <p:custDataLst>
              <p:tags r:id="rId1"/>
            </p:custDataLst>
          </p:nvPr>
        </p:nvSpPr>
        <p:spPr>
          <a:xfrm>
            <a:off x="4916145" y="4829620"/>
            <a:ext cx="1951077" cy="57926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04</a:t>
            </a:r>
            <a:endParaRPr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6"/>
          <p:cNvSpPr/>
          <p:nvPr/>
        </p:nvSpPr>
        <p:spPr bwMode="auto">
          <a:xfrm rot="5400000">
            <a:off x="5509409" y="2848748"/>
            <a:ext cx="723270" cy="628873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203D8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4"/>
          <p:cNvSpPr txBox="1"/>
          <p:nvPr>
            <p:custDataLst>
              <p:tags r:id="rId2"/>
            </p:custDataLst>
          </p:nvPr>
        </p:nvSpPr>
        <p:spPr>
          <a:xfrm>
            <a:off x="4898476" y="2869496"/>
            <a:ext cx="1951077" cy="57926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6"/>
          <p:cNvSpPr/>
          <p:nvPr/>
        </p:nvSpPr>
        <p:spPr bwMode="auto">
          <a:xfrm rot="5400000">
            <a:off x="5517766" y="3828810"/>
            <a:ext cx="723270" cy="628873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203D8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4"/>
          <p:cNvSpPr txBox="1"/>
          <p:nvPr>
            <p:custDataLst>
              <p:tags r:id="rId3"/>
            </p:custDataLst>
          </p:nvPr>
        </p:nvSpPr>
        <p:spPr>
          <a:xfrm>
            <a:off x="4906833" y="3849558"/>
            <a:ext cx="1951077" cy="57926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6"/>
          <p:cNvSpPr/>
          <p:nvPr/>
        </p:nvSpPr>
        <p:spPr bwMode="auto">
          <a:xfrm rot="5400000">
            <a:off x="5524107" y="1868686"/>
            <a:ext cx="723270" cy="628873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203D8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4"/>
          <p:cNvSpPr txBox="1"/>
          <p:nvPr>
            <p:custDataLst>
              <p:tags r:id="rId4"/>
            </p:custDataLst>
          </p:nvPr>
        </p:nvSpPr>
        <p:spPr>
          <a:xfrm>
            <a:off x="4913174" y="1889434"/>
            <a:ext cx="1951077" cy="57926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638946" y="1851902"/>
            <a:ext cx="2377440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38946" y="2892839"/>
            <a:ext cx="2377440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相关工作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638946" y="3868224"/>
            <a:ext cx="2377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Line 234"/>
          <p:cNvSpPr>
            <a:spLocks noChangeShapeType="1"/>
          </p:cNvSpPr>
          <p:nvPr/>
        </p:nvSpPr>
        <p:spPr bwMode="gray">
          <a:xfrm>
            <a:off x="6189658" y="3417296"/>
            <a:ext cx="2736000" cy="22108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234"/>
          <p:cNvSpPr>
            <a:spLocks noChangeShapeType="1"/>
          </p:cNvSpPr>
          <p:nvPr/>
        </p:nvSpPr>
        <p:spPr bwMode="gray">
          <a:xfrm flipV="1">
            <a:off x="6189658" y="4389580"/>
            <a:ext cx="2736000" cy="19621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234"/>
          <p:cNvSpPr>
            <a:spLocks noChangeShapeType="1"/>
          </p:cNvSpPr>
          <p:nvPr/>
        </p:nvSpPr>
        <p:spPr bwMode="gray">
          <a:xfrm>
            <a:off x="6189658" y="5401107"/>
            <a:ext cx="2736000" cy="5303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234"/>
          <p:cNvSpPr>
            <a:spLocks noChangeShapeType="1"/>
          </p:cNvSpPr>
          <p:nvPr/>
        </p:nvSpPr>
        <p:spPr bwMode="gray">
          <a:xfrm flipV="1">
            <a:off x="6189657" y="2418240"/>
            <a:ext cx="2736000" cy="7150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154743" y="2324438"/>
            <a:ext cx="1226443" cy="2209124"/>
            <a:chOff x="1715701" y="2457384"/>
            <a:chExt cx="1226443" cy="2209124"/>
          </a:xfrm>
        </p:grpSpPr>
        <p:sp>
          <p:nvSpPr>
            <p:cNvPr id="3" name="大橘原创PPT模板-请勿抄袭搬运！微信DAJU_PPT"/>
            <p:cNvSpPr/>
            <p:nvPr/>
          </p:nvSpPr>
          <p:spPr>
            <a:xfrm>
              <a:off x="1715701" y="2457384"/>
              <a:ext cx="652742" cy="801630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目</a:t>
              </a:r>
              <a:r>
                <a:rPr kumimoji="0" lang="en-US" altLang="zh-CN" sz="44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cs typeface="+mn-ea"/>
                  <a:sym typeface="+mn-lt"/>
                </a:rPr>
                <a:t>  </a:t>
              </a:r>
              <a:endPara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大橘原创PPT模板-请勿抄袭搬运！微信DAJU_PPT"/>
            <p:cNvSpPr/>
            <p:nvPr/>
          </p:nvSpPr>
          <p:spPr>
            <a:xfrm>
              <a:off x="2193221" y="3062502"/>
              <a:ext cx="748923" cy="769441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录</a:t>
              </a: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" name="大橘原创PPT模板-请勿抄袭搬运！微信DAJU_PPT"/>
            <p:cNvSpPr/>
            <p:nvPr/>
          </p:nvSpPr>
          <p:spPr>
            <a:xfrm>
              <a:off x="1802743" y="3197644"/>
              <a:ext cx="523220" cy="1468864"/>
            </a:xfrm>
            <a:prstGeom prst="rect">
              <a:avLst/>
            </a:prstGeom>
          </p:spPr>
          <p:txBody>
            <a:bodyPr vert="eaVert"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cs typeface="+mn-ea"/>
                  <a:sym typeface="+mn-lt"/>
                </a:rPr>
                <a:t>CONTENTS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6638946" y="4801827"/>
            <a:ext cx="2377440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总结展望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895302" y="67311"/>
            <a:ext cx="76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60570" y="75426"/>
            <a:ext cx="10668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相关研究的三条主线</a:t>
            </a:r>
            <a:endParaRPr lang="zh-CN" altLang="en-US" sz="3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352044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1234440"/>
            <a:ext cx="420624" cy="420624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98448" y="1234440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车路与路侧外参标定</a:t>
            </a:r>
            <a:endParaRPr sz="18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17373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估计传感器之间的空间外参</a:t>
            </a:r>
            <a:endParaRPr sz="13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Picture 18" descr="mamv2x_fig1c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23" y="2103120"/>
            <a:ext cx="2843873" cy="1417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3547872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图源：MamV2XCalib, ICCV 2025</a:t>
            </a:r>
            <a:endParaRPr sz="9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3794760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V2I-Calib / ++（IROS 2024）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RTK 车辆标定相机（IV 2023）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MamV2XCalib（ICCV 2025）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4937760"/>
            <a:ext cx="3063240" cy="54864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输出：外参</a:t>
            </a:r>
            <a:endParaRPr sz="13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297679" y="1097280"/>
            <a:ext cx="352044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26279" y="1234440"/>
            <a:ext cx="420624" cy="420624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47488" y="1234440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时空联合标定</a:t>
            </a:r>
            <a:endParaRPr sz="18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26279" y="17373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同时估计外参与时间偏差</a:t>
            </a:r>
            <a:endParaRPr sz="13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Picture 26" descr="trajmatch_fig1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136" y="2103120"/>
            <a:ext cx="1873525" cy="1417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26279" y="3547872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图源：TrajMatch, T-ITS 2023</a:t>
            </a:r>
            <a:endParaRPr sz="9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26279" y="3794760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TrajMatch（T-ITS 2023）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Mir 等（ITSC 2024）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参照：Kalibr、CT-RIO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526279" y="4937760"/>
            <a:ext cx="3063240" cy="54864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输出：外参 + 时间偏差</a:t>
            </a:r>
            <a:endParaRPr sz="13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046719" y="1097280"/>
            <a:ext cx="352044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75319" y="1234440"/>
            <a:ext cx="420624" cy="420624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796528" y="1234440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协同感知中的误差补偿</a:t>
            </a:r>
            <a:endParaRPr sz="18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75319" y="17373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在网络内补偿位姿误差与时延</a:t>
            </a:r>
            <a:endParaRPr sz="13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5" name="Picture 34" descr="freealign_fig1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1119" y="2103120"/>
            <a:ext cx="2251641" cy="1417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75319" y="3547872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图源：FreeAlign, arXiv 2405.02965</a:t>
            </a:r>
            <a:endParaRPr sz="9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75319" y="3794760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CoAlign（ICRA 2023）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FreeAlign、CoBEVFlow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TraF-Align、DUST、RECO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275319" y="4937760"/>
            <a:ext cx="3063240" cy="54864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输出：检测结果，不输出标定</a:t>
            </a:r>
            <a:endParaRPr sz="13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8640" y="589788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已有工作分别关注空间外参、时间偏差与下游感知鲁棒性，三者尚未在车路场景中统一处理。</a:t>
            </a:r>
            <a:endParaRPr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895302" y="67311"/>
            <a:ext cx="76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60570" y="75426"/>
            <a:ext cx="10668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研究空白</a:t>
            </a:r>
            <a:endParaRPr lang="zh-CN" altLang="en-US" sz="3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1097280"/>
          <a:ext cx="110185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325880"/>
                <a:gridCol w="1188720"/>
                <a:gridCol w="731520"/>
                <a:gridCol w="1463040"/>
                <a:gridCol w="1234440"/>
                <a:gridCol w="1097280"/>
                <a:gridCol w="2377440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工作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001E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车路之间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001E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时间偏差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001E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在线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001E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车辆定位误差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001E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使用图像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001E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标定参数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001E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评价方式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001E64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TrajMatch</a:t>
                      </a:r>
                      <a:endParaRPr sz="1300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 路侧–路侧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常数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输出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与参考标定比较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Mir 等</a:t>
                      </a:r>
                      <a:endParaRPr sz="1300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估计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假设厘米级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输出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EEF1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V2I-Calib / ++</a:t>
                      </a:r>
                      <a:endParaRPr sz="1300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输出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与数据集外参比较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MamV2XCalib</a:t>
                      </a:r>
                      <a:endParaRPr sz="1300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 假设同步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仅旋转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与数据集外参比较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EEF1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CoAlign 等</a:t>
                      </a:r>
                      <a:endParaRPr sz="1300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 / 隐式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隐式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检测精度</a:t>
                      </a:r>
                      <a:endParaRPr sz="13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本工作</a:t>
                      </a:r>
                      <a:endParaRPr sz="13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3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时变</a:t>
                      </a:r>
                      <a:endParaRPr sz="13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3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轨迹自带误差</a:t>
                      </a:r>
                      <a:endParaRPr sz="13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 路侧相机</a:t>
                      </a:r>
                      <a:endParaRPr sz="13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中间量</a:t>
                      </a:r>
                      <a:endParaRPr sz="13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车路一致率</a:t>
                      </a:r>
                      <a:endParaRPr sz="13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anchor="ctr"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53766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—：原文未涉及或摘要无法判断；Mir 等、V2I-Calib 的在线性与评价方式依据摘要概括。最后一行为拟研究的设定，不是已有结果。</a:t>
            </a:r>
            <a:endParaRPr sz="11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589788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在已检索范围内，未见以车路共同轨迹为观测、在线处理时变误差、并以车路一致性评价目标定位的工作。</a:t>
            </a:r>
            <a:endParaRPr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5302" y="67311"/>
            <a:ext cx="2818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汇报提纲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6" name="6"/>
          <p:cNvSpPr/>
          <p:nvPr/>
        </p:nvSpPr>
        <p:spPr bwMode="auto">
          <a:xfrm rot="5400000">
            <a:off x="5527078" y="4808872"/>
            <a:ext cx="723270" cy="628873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203D8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4"/>
          <p:cNvSpPr txBox="1"/>
          <p:nvPr>
            <p:custDataLst>
              <p:tags r:id="rId1"/>
            </p:custDataLst>
          </p:nvPr>
        </p:nvSpPr>
        <p:spPr>
          <a:xfrm>
            <a:off x="4916145" y="4829620"/>
            <a:ext cx="1951077" cy="57926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04</a:t>
            </a:r>
            <a:endParaRPr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6"/>
          <p:cNvSpPr/>
          <p:nvPr/>
        </p:nvSpPr>
        <p:spPr bwMode="auto">
          <a:xfrm rot="5400000">
            <a:off x="5509409" y="2848748"/>
            <a:ext cx="723270" cy="628873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203D8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4"/>
          <p:cNvSpPr txBox="1"/>
          <p:nvPr>
            <p:custDataLst>
              <p:tags r:id="rId2"/>
            </p:custDataLst>
          </p:nvPr>
        </p:nvSpPr>
        <p:spPr>
          <a:xfrm>
            <a:off x="4898476" y="2869496"/>
            <a:ext cx="1951077" cy="57926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6"/>
          <p:cNvSpPr/>
          <p:nvPr/>
        </p:nvSpPr>
        <p:spPr bwMode="auto">
          <a:xfrm rot="5400000">
            <a:off x="5517766" y="3828810"/>
            <a:ext cx="723270" cy="628873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203D8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4"/>
          <p:cNvSpPr txBox="1"/>
          <p:nvPr>
            <p:custDataLst>
              <p:tags r:id="rId3"/>
            </p:custDataLst>
          </p:nvPr>
        </p:nvSpPr>
        <p:spPr>
          <a:xfrm>
            <a:off x="4906833" y="3849558"/>
            <a:ext cx="1951077" cy="57926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6"/>
          <p:cNvSpPr/>
          <p:nvPr/>
        </p:nvSpPr>
        <p:spPr bwMode="auto">
          <a:xfrm rot="5400000">
            <a:off x="5524107" y="1868686"/>
            <a:ext cx="723270" cy="628873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203D8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4"/>
          <p:cNvSpPr txBox="1"/>
          <p:nvPr>
            <p:custDataLst>
              <p:tags r:id="rId4"/>
            </p:custDataLst>
          </p:nvPr>
        </p:nvSpPr>
        <p:spPr>
          <a:xfrm>
            <a:off x="4913174" y="1889434"/>
            <a:ext cx="1951077" cy="57926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638946" y="1851902"/>
            <a:ext cx="2377440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38946" y="2892839"/>
            <a:ext cx="2377440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相关工作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638946" y="3868224"/>
            <a:ext cx="2377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研究内容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Line 234"/>
          <p:cNvSpPr>
            <a:spLocks noChangeShapeType="1"/>
          </p:cNvSpPr>
          <p:nvPr/>
        </p:nvSpPr>
        <p:spPr bwMode="gray">
          <a:xfrm>
            <a:off x="6189658" y="3417296"/>
            <a:ext cx="2736000" cy="22108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234"/>
          <p:cNvSpPr>
            <a:spLocks noChangeShapeType="1"/>
          </p:cNvSpPr>
          <p:nvPr/>
        </p:nvSpPr>
        <p:spPr bwMode="gray">
          <a:xfrm flipV="1">
            <a:off x="6189658" y="4389580"/>
            <a:ext cx="2736000" cy="19621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234"/>
          <p:cNvSpPr>
            <a:spLocks noChangeShapeType="1"/>
          </p:cNvSpPr>
          <p:nvPr/>
        </p:nvSpPr>
        <p:spPr bwMode="gray">
          <a:xfrm>
            <a:off x="6189658" y="5401107"/>
            <a:ext cx="2736000" cy="5303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234"/>
          <p:cNvSpPr>
            <a:spLocks noChangeShapeType="1"/>
          </p:cNvSpPr>
          <p:nvPr/>
        </p:nvSpPr>
        <p:spPr bwMode="gray">
          <a:xfrm flipV="1">
            <a:off x="6189657" y="2418240"/>
            <a:ext cx="2736000" cy="7150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154743" y="2324438"/>
            <a:ext cx="1226443" cy="2209124"/>
            <a:chOff x="1715701" y="2457384"/>
            <a:chExt cx="1226443" cy="2209124"/>
          </a:xfrm>
        </p:grpSpPr>
        <p:sp>
          <p:nvSpPr>
            <p:cNvPr id="3" name="大橘原创PPT模板-请勿抄袭搬运！微信DAJU_PPT"/>
            <p:cNvSpPr/>
            <p:nvPr/>
          </p:nvSpPr>
          <p:spPr>
            <a:xfrm>
              <a:off x="1715701" y="2457384"/>
              <a:ext cx="652742" cy="801630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目</a:t>
              </a:r>
              <a:r>
                <a:rPr kumimoji="0" lang="en-US" altLang="zh-CN" sz="44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cs typeface="+mn-ea"/>
                  <a:sym typeface="+mn-lt"/>
                </a:rPr>
                <a:t>  </a:t>
              </a:r>
              <a:endPara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大橘原创PPT模板-请勿抄袭搬运！微信DAJU_PPT"/>
            <p:cNvSpPr/>
            <p:nvPr/>
          </p:nvSpPr>
          <p:spPr>
            <a:xfrm>
              <a:off x="2193221" y="3062502"/>
              <a:ext cx="748923" cy="769441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录</a:t>
              </a: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" name="大橘原创PPT模板-请勿抄袭搬运！微信DAJU_PPT"/>
            <p:cNvSpPr/>
            <p:nvPr/>
          </p:nvSpPr>
          <p:spPr>
            <a:xfrm>
              <a:off x="1802743" y="3197644"/>
              <a:ext cx="523220" cy="1468864"/>
            </a:xfrm>
            <a:prstGeom prst="rect">
              <a:avLst/>
            </a:prstGeom>
          </p:spPr>
          <p:txBody>
            <a:bodyPr vert="eaVert"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cs typeface="+mn-ea"/>
                  <a:sym typeface="+mn-lt"/>
                </a:rPr>
                <a:t>CONTENTS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6638946" y="4801827"/>
            <a:ext cx="2377440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总结展望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895302" y="67311"/>
            <a:ext cx="76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60570" y="75426"/>
            <a:ext cx="10668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研究起点：参照是否可靠</a:t>
            </a:r>
            <a:endParaRPr lang="zh-CN" altLang="en-US" sz="3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1051560"/>
            <a:ext cx="11064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5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最初的目标：</a:t>
            </a:r>
            <a:r>
              <a:rPr sz="15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在线估计路侧外参与车路时间偏差。评价标定，首先要有参照。</a:t>
            </a: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5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V2X-Seq：</a:t>
            </a:r>
            <a:r>
              <a:rPr sz="15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车路两端对同一目标的位置差中位数约 1.1 m，其中约一半在单段序列内保持恒定；官方为每一帧提供人工二次修正的偏移补丁（数据集说明：路端与车端相对标定存在的系统误差，人工二次修正）。</a:t>
            </a: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Picture 15" descr="e3_zoom_offici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7223760" cy="276609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5486400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示意帧（V2X-Seq 路侧图像）：绿＝人工二维框，黄＝按图像拟合的三维框，蓝＝车端三维框经官方补丁投影</a:t>
            </a:r>
            <a:endParaRPr sz="10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0" y="27432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投影框与人工二维框 IoU（中位数）</a:t>
            </a:r>
            <a:endParaRPr sz="1200" b="1">
              <a:solidFill>
                <a:srgbClr val="203D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12480" y="3108960"/>
            <a:ext cx="3200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9AA3B5"/>
                </a:solidFill>
                <a:latin typeface="微软雅黑" panose="020B0503020204020204" charset="-122"/>
                <a:ea typeface="微软雅黑" panose="020B0503020204020204" charset="-122"/>
              </a:rPr>
              <a:t>0.48</a:t>
            </a:r>
            <a:endParaRPr sz="3000" b="1">
              <a:solidFill>
                <a:srgbClr val="9AA3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12480" y="3712463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不加补丁</a:t>
            </a:r>
            <a:endParaRPr sz="11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12480" y="3977639"/>
            <a:ext cx="3200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0.60</a:t>
            </a:r>
            <a:endParaRPr sz="30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0" y="4581144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官方补丁</a:t>
            </a:r>
            <a:endParaRPr sz="11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12480" y="4846320"/>
            <a:ext cx="3200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0.84</a:t>
            </a:r>
            <a:endParaRPr sz="3000" b="1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12480" y="5449824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指标上界（按图像拟合的框）</a:t>
            </a:r>
            <a:endParaRPr sz="11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数据集车路外参需人工逐帧修正且修正后仍有偏差，以其为参照评价标定，参照本身的可靠性成为问题。</a:t>
            </a:r>
            <a:endParaRPr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895302" y="67311"/>
            <a:ext cx="76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60570" y="75426"/>
            <a:ext cx="10668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发现一：误差沿坐标链分布</a:t>
            </a:r>
            <a:endParaRPr lang="zh-CN" altLang="en-US" sz="3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57200" y="1097280"/>
          <a:ext cx="7498079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5303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横轴：投影框与路侧人工二维框的 IoU（中位数）。前两项基于全部路侧帧，第三项基于车路协同帧对，样本范围略有不同。</a:t>
            </a:r>
            <a:endParaRPr sz="10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29600" y="1463040"/>
            <a:ext cx="3383280" cy="155448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572768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−0.16</a:t>
            </a:r>
            <a:endParaRPr sz="30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12480" y="217627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激光雷达–相机外参一段</a:t>
            </a:r>
            <a:endParaRPr sz="15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12480" y="2532888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路侧自身的两种传感器之间即有可见偏差</a:t>
            </a:r>
            <a:endParaRPr sz="12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29600" y="3291840"/>
            <a:ext cx="3383280" cy="155448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401568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−0.08</a:t>
            </a:r>
            <a:endParaRPr sz="30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12480" y="400507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车路坐标链一段</a:t>
            </a:r>
            <a:endParaRPr sz="15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12480" y="4361688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即便按官方约定施加补丁</a:t>
            </a:r>
            <a:endParaRPr sz="12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路侧激光雷达–相机一段与车路链路一段均有明显误差，误差并非集中于单一环节。</a:t>
            </a:r>
            <a:endParaRPr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895302" y="67311"/>
            <a:ext cx="76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60570" y="75426"/>
            <a:ext cx="10668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发现二：误差随车、随时间变化</a:t>
            </a:r>
            <a:endParaRPr lang="zh-CN" altLang="en-US" sz="3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57200" y="1417320"/>
          <a:ext cx="60350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105156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官方逐帧补丁的分解（6 个路侧设备、67 段车端序列）</a:t>
            </a:r>
            <a:endParaRPr sz="1400" b="1">
              <a:solidFill>
                <a:srgbClr val="203D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594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各项均为中位数，不可相加。路侧外参在数据中基本固定（版本间相差 1–8 cm、≤ 0.17°）。</a:t>
            </a:r>
            <a:endParaRPr sz="10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766560" y="1097280"/>
            <a:ext cx="4846320" cy="452628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118872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采集车轨迹：形状准，绝对位置缓慢偏移</a:t>
            </a:r>
            <a:endParaRPr sz="1400" b="1">
              <a:solidFill>
                <a:srgbClr val="203D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Freeform 1"/>
          <p:cNvSpPr/>
          <p:nvPr/>
        </p:nvSpPr>
        <p:spPr>
          <a:xfrm>
            <a:off x="7132320" y="2423160"/>
            <a:ext cx="3840480" cy="1005840"/>
          </a:xfrm>
          <a:custGeom>
            <a:avLst/>
            <a:gdLst/>
            <a:ahLst/>
            <a:cxnLst/>
            <a:rect l="l" t="t" r="r" b="b"/>
            <a:pathLst>
              <a:path w="3840480" h="1005840">
                <a:moveTo>
                  <a:pt x="0" y="1005840"/>
                </a:moveTo>
                <a:lnTo>
                  <a:pt x="384048" y="695018"/>
                </a:lnTo>
                <a:lnTo>
                  <a:pt x="768096" y="414622"/>
                </a:lnTo>
                <a:lnTo>
                  <a:pt x="1152144" y="192098"/>
                </a:lnTo>
                <a:lnTo>
                  <a:pt x="1536192" y="49229"/>
                </a:lnTo>
                <a:lnTo>
                  <a:pt x="1920240" y="0"/>
                </a:lnTo>
                <a:lnTo>
                  <a:pt x="2304288" y="49229"/>
                </a:lnTo>
                <a:lnTo>
                  <a:pt x="2688336" y="192098"/>
                </a:lnTo>
                <a:lnTo>
                  <a:pt x="3072384" y="414622"/>
                </a:lnTo>
                <a:lnTo>
                  <a:pt x="3456432" y="695018"/>
                </a:lnTo>
                <a:lnTo>
                  <a:pt x="3840480" y="1005840"/>
                </a:lnTo>
              </a:path>
            </a:pathLst>
          </a:custGeom>
          <a:noFill/>
          <a:ln w="31750">
            <a:solidFill>
              <a:srgbClr val="9AA3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96912" y="2039112"/>
            <a:ext cx="4114800" cy="1097280"/>
          </a:xfrm>
          <a:custGeom>
            <a:avLst/>
            <a:gdLst/>
            <a:ahLst/>
            <a:cxnLst/>
            <a:rect l="l" t="t" r="r" b="b"/>
            <a:pathLst>
              <a:path w="4114800" h="1097280">
                <a:moveTo>
                  <a:pt x="0" y="1097280"/>
                </a:moveTo>
                <a:lnTo>
                  <a:pt x="411480" y="768170"/>
                </a:lnTo>
                <a:lnTo>
                  <a:pt x="822960" y="469486"/>
                </a:lnTo>
                <a:lnTo>
                  <a:pt x="1234440" y="228674"/>
                </a:lnTo>
                <a:lnTo>
                  <a:pt x="1645920" y="67517"/>
                </a:lnTo>
                <a:lnTo>
                  <a:pt x="2057400" y="0"/>
                </a:lnTo>
                <a:lnTo>
                  <a:pt x="2468880" y="30941"/>
                </a:lnTo>
                <a:lnTo>
                  <a:pt x="2880360" y="155522"/>
                </a:lnTo>
                <a:lnTo>
                  <a:pt x="3291840" y="359758"/>
                </a:lnTo>
                <a:lnTo>
                  <a:pt x="3703320" y="621866"/>
                </a:lnTo>
                <a:lnTo>
                  <a:pt x="4114800" y="914400"/>
                </a:lnTo>
              </a:path>
            </a:pathLst>
          </a:custGeom>
          <a:noFill/>
          <a:ln w="34925">
            <a:solidFill>
              <a:srgbClr val="001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7900416" y="2508598"/>
            <a:ext cx="219456" cy="329184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436608" y="2070053"/>
            <a:ext cx="329184" cy="402336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972800" y="2953512"/>
            <a:ext cx="438912" cy="475488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95160" y="37033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— — 路侧观测</a:t>
            </a:r>
            <a:endParaRPr sz="11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4000" y="3703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——  车端轨迹</a:t>
            </a:r>
            <a:endParaRPr sz="11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95160" y="4069080"/>
            <a:ext cx="4480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帧间位置抖动约 2 cm 量级（10 Hz 位姿二阶差分折算）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补丁相邻帧变化中位数 0.056 m：偏差以缓慢漂移为主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589788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车路误差主要来自车端轨迹自带的定位偏差：形状准确，绝对位置存在缓慢变化的亚米级偏差。</a:t>
            </a:r>
            <a:endParaRPr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895302" y="67311"/>
            <a:ext cx="76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60570" y="75426"/>
            <a:ext cx="10668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思路转变：追求车路一致</a:t>
            </a:r>
            <a:endParaRPr lang="zh-CN" altLang="en-US" sz="3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539496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120700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以往：逼近真值</a:t>
            </a:r>
            <a:endParaRPr sz="1900" b="1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" y="166420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评价 = 估计结果与数据集外参真值之差</a:t>
            </a:r>
            <a:endParaRPr sz="13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72200" y="1097280"/>
            <a:ext cx="5394960" cy="301752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20700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本文：车路一致</a:t>
            </a:r>
            <a:endParaRPr sz="19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166420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评价 = 车端与路侧对同一目标的定位之差</a:t>
            </a:r>
            <a:endParaRPr sz="13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97280" y="2423160"/>
            <a:ext cx="1463040" cy="548640"/>
          </a:xfrm>
          <a:prstGeom prst="roundRect">
            <a:avLst>
              <a:gd name="adj" fmla="val 8000"/>
            </a:avLst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估计外参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57600" y="2423160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9AA3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数据集真值？</a:t>
            </a:r>
            <a:endParaRPr sz="1400" b="1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606040" y="2697480"/>
            <a:ext cx="1005840" cy="0"/>
          </a:xfrm>
          <a:prstGeom prst="line">
            <a:avLst/>
          </a:prstGeom>
          <a:ln w="22225">
            <a:solidFill>
              <a:srgbClr val="9AA3B5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315468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参照需人工逐帧修正，且修正后仍有偏差</a:t>
            </a:r>
            <a:endParaRPr sz="13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8046720" y="2286000"/>
            <a:ext cx="1371600" cy="1371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1E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30768" y="2962656"/>
            <a:ext cx="201168" cy="201168"/>
          </a:xfrm>
          <a:prstGeom prst="ellipse">
            <a:avLst/>
          </a:prstGeom>
          <a:solidFill>
            <a:srgbClr val="20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14816" y="2761488"/>
            <a:ext cx="201168" cy="20116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331720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●</a:t>
            </a: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车端定位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●</a:t>
            </a: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路侧定位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555480" y="26974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距离 ≤ τ
即为一致</a:t>
            </a:r>
            <a:endParaRPr sz="13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8640" y="4297680"/>
            <a:ext cx="11018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1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37083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评价指标：车路一致率</a:t>
            </a:r>
            <a:endParaRPr sz="16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960" y="477316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同一目标车端定位与路侧定位的水平距离不超过 τ 的目标比例；τ＝0.5 m 沿用此前提出的 OAR 指标阈值（该阈值依据晚融合中跨端目标关联是否保持而定，与一致性的含义一致）。协同感知的融合与关联依赖的正是这种一致性。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8640" y="589788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以车路一致为评价目标，不再依赖数据集外参真值，直接服务于协同感知的需求。</a:t>
            </a:r>
            <a:endParaRPr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895302" y="67311"/>
            <a:ext cx="76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60570" y="75426"/>
            <a:ext cx="10668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核心思路：轨迹作为车路桥梁</a:t>
            </a:r>
            <a:endParaRPr lang="zh-CN" altLang="en-US" sz="3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3520440" cy="288036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1207008"/>
            <a:ext cx="365760" cy="365760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88719" y="118872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空间误差</a:t>
            </a:r>
            <a:endParaRPr sz="16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整条轨迹整体平移 / 旋转</a:t>
            </a:r>
            <a:endParaRPr sz="12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297679" y="1097280"/>
            <a:ext cx="3520440" cy="288036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80559" y="1207008"/>
            <a:ext cx="365760" cy="365760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37759" y="118872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时间偏差</a:t>
            </a:r>
            <a:endParaRPr sz="16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80559" y="33832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观测点沿轨迹滑移：位移＝速度 × 时间偏差</a:t>
            </a:r>
            <a:endParaRPr sz="12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046719" y="1097280"/>
            <a:ext cx="3520440" cy="288036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599" y="1207008"/>
            <a:ext cx="365760" cy="365760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6799" y="118872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可观测性</a:t>
            </a:r>
            <a:endParaRPr sz="16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599" y="33832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直行时与沿向平移不可区分；转弯时可区分</a:t>
            </a:r>
            <a:endParaRPr sz="12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Freeform 1"/>
          <p:cNvSpPr/>
          <p:nvPr/>
        </p:nvSpPr>
        <p:spPr>
          <a:xfrm>
            <a:off x="914400" y="1968125"/>
            <a:ext cx="2743200" cy="1095115"/>
          </a:xfrm>
          <a:custGeom>
            <a:avLst/>
            <a:gdLst/>
            <a:ahLst/>
            <a:cxnLst/>
            <a:rect l="l" t="t" r="r" b="b"/>
            <a:pathLst>
              <a:path w="2743200" h="1095115">
                <a:moveTo>
                  <a:pt x="0" y="1095115"/>
                </a:moveTo>
                <a:lnTo>
                  <a:pt x="274320" y="822232"/>
                </a:lnTo>
                <a:lnTo>
                  <a:pt x="548640" y="566496"/>
                </a:lnTo>
                <a:lnTo>
                  <a:pt x="822960" y="343975"/>
                </a:lnTo>
                <a:lnTo>
                  <a:pt x="1097280" y="168650"/>
                </a:lnTo>
                <a:lnTo>
                  <a:pt x="1371600" y="51539"/>
                </a:lnTo>
                <a:lnTo>
                  <a:pt x="1645920" y="0"/>
                </a:lnTo>
                <a:lnTo>
                  <a:pt x="1920240" y="17270"/>
                </a:lnTo>
                <a:lnTo>
                  <a:pt x="2194560" y="102266"/>
                </a:lnTo>
                <a:lnTo>
                  <a:pt x="2468879" y="249646"/>
                </a:lnTo>
                <a:lnTo>
                  <a:pt x="2743200" y="450149"/>
                </a:lnTo>
              </a:path>
            </a:pathLst>
          </a:custGeom>
          <a:noFill/>
          <a:ln w="28575">
            <a:solidFill>
              <a:srgbClr val="9AA3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051560" y="1500039"/>
            <a:ext cx="2626741" cy="1334601"/>
          </a:xfrm>
          <a:custGeom>
            <a:avLst/>
            <a:gdLst/>
            <a:ahLst/>
            <a:cxnLst/>
            <a:rect l="l" t="t" r="r" b="b"/>
            <a:pathLst>
              <a:path w="2626741" h="1334601">
                <a:moveTo>
                  <a:pt x="0" y="1334601"/>
                </a:moveTo>
                <a:lnTo>
                  <a:pt x="233672" y="1026196"/>
                </a:lnTo>
                <a:lnTo>
                  <a:pt x="469731" y="734770"/>
                </a:lnTo>
                <a:lnTo>
                  <a:pt x="710412" y="476237"/>
                </a:lnTo>
                <a:lnTo>
                  <a:pt x="957662" y="264441"/>
                </a:lnTo>
                <a:lnTo>
                  <a:pt x="1213014" y="110291"/>
                </a:lnTo>
                <a:lnTo>
                  <a:pt x="1477491" y="21076"/>
                </a:lnTo>
                <a:lnTo>
                  <a:pt x="1751545" y="0"/>
                </a:lnTo>
                <a:lnTo>
                  <a:pt x="2035024" y="45990"/>
                </a:lnTo>
                <a:lnTo>
                  <a:pt x="2327186" y="153758"/>
                </a:lnTo>
                <a:lnTo>
                  <a:pt x="2626741" y="314133"/>
                </a:lnTo>
              </a:path>
            </a:pathLst>
          </a:custGeom>
          <a:noFill/>
          <a:ln w="31750">
            <a:solidFill>
              <a:srgbClr val="001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617720" y="1968125"/>
            <a:ext cx="2743200" cy="1095115"/>
          </a:xfrm>
          <a:custGeom>
            <a:avLst/>
            <a:gdLst/>
            <a:ahLst/>
            <a:cxnLst/>
            <a:rect l="l" t="t" r="r" b="b"/>
            <a:pathLst>
              <a:path w="2743200" h="1095115">
                <a:moveTo>
                  <a:pt x="0" y="1095115"/>
                </a:moveTo>
                <a:lnTo>
                  <a:pt x="274320" y="822232"/>
                </a:lnTo>
                <a:lnTo>
                  <a:pt x="548639" y="566496"/>
                </a:lnTo>
                <a:lnTo>
                  <a:pt x="822959" y="343975"/>
                </a:lnTo>
                <a:lnTo>
                  <a:pt x="1097280" y="168650"/>
                </a:lnTo>
                <a:lnTo>
                  <a:pt x="1371600" y="51539"/>
                </a:lnTo>
                <a:lnTo>
                  <a:pt x="1645920" y="0"/>
                </a:lnTo>
                <a:lnTo>
                  <a:pt x="1920240" y="17270"/>
                </a:lnTo>
                <a:lnTo>
                  <a:pt x="2194559" y="102266"/>
                </a:lnTo>
                <a:lnTo>
                  <a:pt x="2468880" y="249646"/>
                </a:lnTo>
                <a:lnTo>
                  <a:pt x="2743200" y="450149"/>
                </a:lnTo>
              </a:path>
            </a:pathLst>
          </a:custGeom>
          <a:noFill/>
          <a:ln w="25400">
            <a:solidFill>
              <a:srgbClr val="9AA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18888" y="2717205"/>
            <a:ext cx="146304" cy="146304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67527" y="2238948"/>
            <a:ext cx="146304" cy="14630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4892040" y="2202372"/>
            <a:ext cx="548639" cy="478257"/>
          </a:xfrm>
          <a:prstGeom prst="line">
            <a:avLst/>
          </a:prstGeom>
          <a:ln w="127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641848" y="2063623"/>
            <a:ext cx="146304" cy="146304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90488" y="1894973"/>
            <a:ext cx="146304" cy="14630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5715000" y="1858397"/>
            <a:ext cx="548640" cy="168650"/>
          </a:xfrm>
          <a:prstGeom prst="line">
            <a:avLst/>
          </a:prstGeom>
          <a:ln w="127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464808" y="1912243"/>
            <a:ext cx="146304" cy="146304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13448" y="2144619"/>
            <a:ext cx="146304" cy="14630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6537960" y="1875667"/>
            <a:ext cx="548640" cy="232376"/>
          </a:xfrm>
          <a:prstGeom prst="line">
            <a:avLst/>
          </a:prstGeom>
          <a:ln w="127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8275320" y="1920240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200" y="0"/>
                </a:lnTo>
              </a:path>
            </a:pathLst>
          </a:custGeom>
          <a:noFill/>
          <a:ln w="25400">
            <a:solidFill>
              <a:srgbClr val="9AA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31352" y="1856232"/>
            <a:ext cx="128016" cy="12801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851392" y="1856232"/>
            <a:ext cx="128016" cy="12801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45752" y="1856232"/>
            <a:ext cx="128016" cy="12801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65792" y="1856232"/>
            <a:ext cx="128016" cy="12801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360152" y="1856232"/>
            <a:ext cx="128016" cy="12801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80192" y="1856232"/>
            <a:ext cx="128016" cy="12801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20574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直行：滑移 ≈ 沿向平移</a:t>
            </a:r>
            <a:endParaRPr sz="11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8321040" y="2559877"/>
            <a:ext cx="1824218" cy="594803"/>
          </a:xfrm>
          <a:custGeom>
            <a:avLst/>
            <a:gdLst/>
            <a:ahLst/>
            <a:cxnLst/>
            <a:rect l="l" t="t" r="r" b="b"/>
            <a:pathLst>
              <a:path w="1824218" h="594803">
                <a:moveTo>
                  <a:pt x="0" y="594803"/>
                </a:moveTo>
                <a:lnTo>
                  <a:pt x="273292" y="587615"/>
                </a:lnTo>
                <a:lnTo>
                  <a:pt x="540447" y="566214"/>
                </a:lnTo>
                <a:lnTo>
                  <a:pt x="795464" y="531081"/>
                </a:lnTo>
                <a:lnTo>
                  <a:pt x="1032618" y="483003"/>
                </a:lnTo>
                <a:lnTo>
                  <a:pt x="1246580" y="423062"/>
                </a:lnTo>
                <a:lnTo>
                  <a:pt x="1432548" y="352603"/>
                </a:lnTo>
                <a:lnTo>
                  <a:pt x="1586343" y="273208"/>
                </a:lnTo>
                <a:lnTo>
                  <a:pt x="1704513" y="186660"/>
                </a:lnTo>
                <a:lnTo>
                  <a:pt x="1784402" y="94904"/>
                </a:lnTo>
                <a:lnTo>
                  <a:pt x="1824218" y="0"/>
                </a:lnTo>
              </a:path>
            </a:pathLst>
          </a:custGeom>
          <a:noFill/>
          <a:ln w="25400">
            <a:solidFill>
              <a:srgbClr val="9AA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30324" y="3083484"/>
            <a:ext cx="128016" cy="12801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89650" y="2978872"/>
            <a:ext cx="128016" cy="12801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503612" y="2918931"/>
            <a:ext cx="128016" cy="12801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61545" y="2682529"/>
            <a:ext cx="128016" cy="12801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0" y="27889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转弯：方向改变</a:t>
            </a:r>
            <a:endParaRPr sz="11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8640" y="40233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AA3B5"/>
                </a:solidFill>
                <a:latin typeface="微软雅黑" panose="020B0503020204020204" charset="-122"/>
                <a:ea typeface="微软雅黑" panose="020B0503020204020204" charset="-122"/>
              </a:rPr>
              <a:t>— —</a:t>
            </a:r>
            <a:r>
              <a:rPr sz="11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 路侧观测　</a:t>
            </a:r>
            <a:r>
              <a:rPr sz="11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sz="11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 车端观测　</a:t>
            </a:r>
            <a:r>
              <a:rPr sz="1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●</a:t>
            </a:r>
            <a:r>
              <a:rPr sz="11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 含时间偏差的观测点</a:t>
            </a:r>
            <a:endParaRPr sz="11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8640" y="438912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4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两端都具备：</a:t>
            </a:r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路侧下发的目标列表随时间连续，车端感知亦然，无需传输图像。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4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同时携带空间与时间信息：</a:t>
            </a:r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静止目标对时间偏差不敏感，运动目标的位置差随速度与时间偏差变化，使时间偏差可被观测。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48640" y="589788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目标轨迹同时携带空间与时间信息，是在不传输图像的条件下实现车路一致定位的共同观测。</a:t>
            </a:r>
            <a:endParaRPr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895302" y="67311"/>
            <a:ext cx="76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60570" y="75426"/>
            <a:ext cx="106685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实验验证</a:t>
            </a:r>
            <a:endParaRPr lang="zh-CN" altLang="en-US" sz="3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57200" y="141732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10515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车路一致率 @0.5 m（46519 个目标）</a:t>
            </a:r>
            <a:endParaRPr sz="1400" b="1">
              <a:solidFill>
                <a:srgbClr val="203D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4480560"/>
          <a:ext cx="502920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188720"/>
                <a:gridCol w="1188720"/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 sz="1200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18288" marB="18288">
                    <a:solidFill>
                      <a:srgbClr val="DD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不修正</a:t>
                      </a:r>
                      <a:endParaRPr sz="1200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18288" marB="18288">
                    <a:solidFill>
                      <a:srgbClr val="DD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官方补丁</a:t>
                      </a:r>
                      <a:endParaRPr sz="1200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18288" marB="18288">
                    <a:solidFill>
                      <a:srgbClr val="DD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在线估计</a:t>
                      </a:r>
                      <a:endParaRPr sz="1200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18288" marB="18288">
                    <a:solidFill>
                      <a:srgbClr val="DDE3F0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中位距离</a:t>
                      </a:r>
                      <a:endParaRPr sz="1200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1.11 m</a:t>
                      </a:r>
                      <a:endParaRPr sz="12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0.41 m</a:t>
                      </a:r>
                      <a:endParaRPr sz="12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0.34 m</a:t>
                      </a:r>
                      <a:endParaRPr sz="1200" b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佐证：图像 IoU</a:t>
                      </a:r>
                      <a:endParaRPr sz="1200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0.48</a:t>
                      </a:r>
                      <a:endParaRPr sz="12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0.60</a:t>
                      </a:r>
                      <a:endParaRPr sz="12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0.62</a:t>
                      </a:r>
                      <a:endParaRPr sz="1200" b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53766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以前 1 s 内两端共同目标的轨迹估计平移、偏航与时间偏差，在其后 1 s 上评测。图像 IoU 可达上界 0.70，指标上界 0.84。</a:t>
            </a:r>
            <a:endParaRPr sz="10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035040" y="1417320"/>
          <a:ext cx="56692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126480" y="10515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03D88"/>
                </a:solidFill>
                <a:latin typeface="微软雅黑" panose="020B0503020204020204" charset="-122"/>
                <a:ea typeface="微软雅黑" panose="020B0503020204020204" charset="-122"/>
              </a:rPr>
              <a:t>注入已知时间偏差后的估计误差（90% 分位数，ms）</a:t>
            </a:r>
            <a:endParaRPr sz="1400" b="1">
              <a:solidFill>
                <a:srgbClr val="203D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5376672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按 1 s 窗口内目标运动方向的多样性分组；观测噪声为独立高斯，结果偏乐观。</a:t>
            </a:r>
            <a:endParaRPr sz="10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589788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初步结果显示，仅用前 1 s 轨迹，车路一致率由 0.09 升至 0.69，高于人工补丁 0.59；时间偏差可观测性依赖运动多样性。</a:t>
            </a:r>
            <a:endParaRPr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895302" y="67311"/>
            <a:ext cx="74676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60570" y="75426"/>
            <a:ext cx="106685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目标级车路协同定位网络</a:t>
            </a:r>
            <a:endParaRPr lang="zh-CN" altLang="en-US" sz="3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1005840"/>
            <a:ext cx="2377440" cy="658368"/>
          </a:xfrm>
          <a:prstGeom prst="roundRect">
            <a:avLst>
              <a:gd name="adj" fmla="val 8000"/>
            </a:avLst>
          </a:prstGeom>
          <a:solidFill>
            <a:srgbClr val="20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车端目标轨迹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2059229"/>
            <a:ext cx="2377440" cy="658368"/>
          </a:xfrm>
          <a:prstGeom prst="roundRect">
            <a:avLst>
              <a:gd name="adj" fmla="val 8000"/>
            </a:avLst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路侧目标轨迹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1677375"/>
            <a:ext cx="2377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携带采集车定位误差</a:t>
            </a:r>
            <a:endParaRPr sz="11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2730764"/>
            <a:ext cx="2377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携带标定误差；两端存在时间偏差</a:t>
            </a:r>
            <a:endParaRPr sz="11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566160" y="1203350"/>
            <a:ext cx="2651760" cy="128381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001E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① 路侧相机外参</a:t>
            </a:r>
            <a:endParaRPr sz="16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6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与时间偏差修正</a:t>
            </a:r>
            <a:endParaRPr sz="16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66160" y="2520086"/>
            <a:ext cx="2651760" cy="2633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中间量，不作为输出</a:t>
            </a:r>
            <a:endParaRPr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58000" y="1203350"/>
            <a:ext cx="2651760" cy="1283818"/>
          </a:xfrm>
          <a:prstGeom prst="roundRect">
            <a:avLst>
              <a:gd name="adj" fmla="val 8000"/>
            </a:avLst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目标级车路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协同定位网络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104120" y="1335024"/>
            <a:ext cx="1508760" cy="102047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车路一致的</a:t>
            </a:r>
            <a:endParaRPr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目标定位</a:t>
            </a:r>
            <a:endParaRPr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926080" y="1335024"/>
            <a:ext cx="594360" cy="296266"/>
          </a:xfrm>
          <a:prstGeom prst="line">
            <a:avLst/>
          </a:prstGeom>
          <a:ln w="2540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926080" y="2092147"/>
            <a:ext cx="594360" cy="296266"/>
          </a:xfrm>
          <a:prstGeom prst="line">
            <a:avLst/>
          </a:prstGeom>
          <a:ln w="2540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263640" y="1841967"/>
            <a:ext cx="548640" cy="0"/>
          </a:xfrm>
          <a:prstGeom prst="line">
            <a:avLst/>
          </a:prstGeom>
          <a:ln w="285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55480" y="1841967"/>
            <a:ext cx="502920" cy="0"/>
          </a:xfrm>
          <a:prstGeom prst="line">
            <a:avLst/>
          </a:prstGeom>
          <a:ln w="285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6"/>
          <p:cNvSpPr txBox="1"/>
          <p:nvPr/>
        </p:nvSpPr>
        <p:spPr>
          <a:xfrm>
            <a:off x="548640" y="34290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4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▪ 第一阶段：</a:t>
            </a:r>
            <a:r>
              <a:rPr lang="zh-CN"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修正路侧相机外参与时间偏差，覆盖当前轨迹估计未触及的激光雷达–相机一段（IoU −0.16）。</a:t>
            </a:r>
            <a:endParaRPr lang="zh-CN"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lang="zh-CN" sz="14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▪ 评测：</a:t>
            </a:r>
            <a:r>
              <a:rPr lang="zh-CN"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以车路一致率为主指标，采用时间与目标留出，并以路侧图像 IoU 独立佐证。</a:t>
            </a:r>
            <a:endParaRPr lang="zh-CN"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03504" y="4443984"/>
            <a:ext cx="10972800" cy="1463040"/>
          </a:xfrm>
          <a:prstGeom prst="roundRect">
            <a:avLst/>
          </a:prstGeom>
          <a:solidFill>
            <a:srgbClr val="F9FAFD"/>
          </a:solidFill>
          <a:ln w="12700">
            <a:solidFill>
              <a:srgbClr val="D6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4590288"/>
            <a:ext cx="96012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30000"/>
                </a:solidFill>
                <a:latin typeface="微软雅黑" panose="020B0503020204020204" charset="-122"/>
              </a:rPr>
              <a:t>框架说明</a:t>
            </a:r>
            <a:endParaRPr sz="1600" b="1">
              <a:solidFill>
                <a:srgbClr val="C30000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700784" y="4572000"/>
            <a:ext cx="9601200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4344E"/>
                </a:solidFill>
                <a:latin typeface="微软雅黑" panose="020B0503020204020204" charset="-122"/>
              </a:rPr>
              <a:t>该框架以“车端 / 路侧共同目标轨迹”为输入，先进行外参与时间偏差修正，再通过目标级网络完成跨端轨迹编码、关联与时空融合，最终输出车路一致的目标定位结果。</a:t>
            </a:r>
            <a:endParaRPr sz="1320" b="0">
              <a:solidFill>
                <a:srgbClr val="24344E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700784" y="4956048"/>
            <a:ext cx="923544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7A8A"/>
                </a:solidFill>
                <a:latin typeface="微软雅黑" panose="020B0503020204020204" charset="-122"/>
              </a:rPr>
              <a:t>可进一步引入：运动先验、连续时间轨迹表示、鲁棒关联损失、一致性约束损失等，以增强复杂场景下的稳定性。</a:t>
            </a:r>
            <a:endParaRPr sz="1300" b="0">
              <a:solidFill>
                <a:srgbClr val="6F7A8A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719072" y="5413248"/>
            <a:ext cx="566928" cy="219456"/>
          </a:xfrm>
          <a:prstGeom prst="roundRect">
            <a:avLst/>
          </a:prstGeom>
          <a:solidFill>
            <a:srgbClr val="EDF3FF"/>
          </a:solidFill>
          <a:ln w="10160">
            <a:solidFill>
              <a:srgbClr val="D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37360" y="5440680"/>
            <a:ext cx="530352" cy="914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>
                <a:solidFill>
                  <a:srgbClr val="1F4A9C"/>
                </a:solidFill>
                <a:latin typeface="微软雅黑" panose="020B0503020204020204" charset="-122"/>
              </a:rPr>
              <a:t>输入</a:t>
            </a:r>
            <a:endParaRPr sz="1020" b="1">
              <a:solidFill>
                <a:srgbClr val="1F4A9C"/>
              </a:solidFill>
              <a:latin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414015" y="5413248"/>
            <a:ext cx="566928" cy="219456"/>
          </a:xfrm>
          <a:prstGeom prst="roundRect">
            <a:avLst/>
          </a:prstGeom>
          <a:solidFill>
            <a:srgbClr val="EDF3FF"/>
          </a:solidFill>
          <a:ln w="10160">
            <a:solidFill>
              <a:srgbClr val="D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32303" y="5440680"/>
            <a:ext cx="530352" cy="914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>
                <a:solidFill>
                  <a:srgbClr val="1F4A9C"/>
                </a:solidFill>
                <a:latin typeface="微软雅黑" panose="020B0503020204020204" charset="-122"/>
              </a:rPr>
              <a:t>修正</a:t>
            </a:r>
            <a:endParaRPr sz="1020" b="1">
              <a:solidFill>
                <a:srgbClr val="1F4A9C"/>
              </a:solidFill>
              <a:latin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108959" y="5413248"/>
            <a:ext cx="566928" cy="219456"/>
          </a:xfrm>
          <a:prstGeom prst="roundRect">
            <a:avLst/>
          </a:prstGeom>
          <a:solidFill>
            <a:srgbClr val="EDF3FF"/>
          </a:solidFill>
          <a:ln w="10160">
            <a:solidFill>
              <a:srgbClr val="D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27247" y="5440680"/>
            <a:ext cx="530352" cy="914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>
                <a:solidFill>
                  <a:srgbClr val="1F4A9C"/>
                </a:solidFill>
                <a:latin typeface="微软雅黑" panose="020B0503020204020204" charset="-122"/>
              </a:rPr>
              <a:t>融合</a:t>
            </a:r>
            <a:endParaRPr sz="1020" b="1">
              <a:solidFill>
                <a:srgbClr val="1F4A9C"/>
              </a:solidFill>
              <a:latin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3803903" y="5413248"/>
            <a:ext cx="566928" cy="219456"/>
          </a:xfrm>
          <a:prstGeom prst="roundRect">
            <a:avLst/>
          </a:prstGeom>
          <a:solidFill>
            <a:srgbClr val="FDEEEE"/>
          </a:solidFill>
          <a:ln w="10160">
            <a:solidFill>
              <a:srgbClr val="D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22191" y="5440680"/>
            <a:ext cx="530352" cy="914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>
                <a:solidFill>
                  <a:srgbClr val="C30000"/>
                </a:solidFill>
                <a:latin typeface="微软雅黑" panose="020B0503020204020204" charset="-122"/>
              </a:rPr>
              <a:t>输出</a:t>
            </a:r>
            <a:endParaRPr sz="1020" b="1">
              <a:solidFill>
                <a:srgbClr val="C3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5302" y="67311"/>
            <a:ext cx="2818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汇报提纲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6" name="6"/>
          <p:cNvSpPr/>
          <p:nvPr/>
        </p:nvSpPr>
        <p:spPr bwMode="auto">
          <a:xfrm rot="5400000">
            <a:off x="5527078" y="4808872"/>
            <a:ext cx="723270" cy="628873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203D8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4"/>
          <p:cNvSpPr txBox="1"/>
          <p:nvPr>
            <p:custDataLst>
              <p:tags r:id="rId1"/>
            </p:custDataLst>
          </p:nvPr>
        </p:nvSpPr>
        <p:spPr>
          <a:xfrm>
            <a:off x="4916145" y="4829620"/>
            <a:ext cx="1951077" cy="57926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04</a:t>
            </a:r>
            <a:endParaRPr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6"/>
          <p:cNvSpPr/>
          <p:nvPr/>
        </p:nvSpPr>
        <p:spPr bwMode="auto">
          <a:xfrm rot="5400000">
            <a:off x="5509409" y="2848748"/>
            <a:ext cx="723270" cy="628873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203D8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4"/>
          <p:cNvSpPr txBox="1"/>
          <p:nvPr>
            <p:custDataLst>
              <p:tags r:id="rId2"/>
            </p:custDataLst>
          </p:nvPr>
        </p:nvSpPr>
        <p:spPr>
          <a:xfrm>
            <a:off x="4898476" y="2869496"/>
            <a:ext cx="1951077" cy="57926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6"/>
          <p:cNvSpPr/>
          <p:nvPr/>
        </p:nvSpPr>
        <p:spPr bwMode="auto">
          <a:xfrm rot="5400000">
            <a:off x="5517766" y="3828810"/>
            <a:ext cx="723270" cy="628873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203D8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4"/>
          <p:cNvSpPr txBox="1"/>
          <p:nvPr>
            <p:custDataLst>
              <p:tags r:id="rId3"/>
            </p:custDataLst>
          </p:nvPr>
        </p:nvSpPr>
        <p:spPr>
          <a:xfrm>
            <a:off x="4906833" y="3849558"/>
            <a:ext cx="1951077" cy="57926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6"/>
          <p:cNvSpPr/>
          <p:nvPr/>
        </p:nvSpPr>
        <p:spPr bwMode="auto">
          <a:xfrm rot="5400000">
            <a:off x="5524107" y="1868686"/>
            <a:ext cx="723270" cy="628873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203D8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4"/>
          <p:cNvSpPr txBox="1"/>
          <p:nvPr>
            <p:custDataLst>
              <p:tags r:id="rId4"/>
            </p:custDataLst>
          </p:nvPr>
        </p:nvSpPr>
        <p:spPr>
          <a:xfrm>
            <a:off x="4913174" y="1889434"/>
            <a:ext cx="1951077" cy="57926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638946" y="1851902"/>
            <a:ext cx="2377440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38946" y="2892839"/>
            <a:ext cx="2377440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相关工作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638946" y="3868224"/>
            <a:ext cx="2377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研究内容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Line 234"/>
          <p:cNvSpPr>
            <a:spLocks noChangeShapeType="1"/>
          </p:cNvSpPr>
          <p:nvPr/>
        </p:nvSpPr>
        <p:spPr bwMode="gray">
          <a:xfrm>
            <a:off x="6189658" y="3417296"/>
            <a:ext cx="2736000" cy="22108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234"/>
          <p:cNvSpPr>
            <a:spLocks noChangeShapeType="1"/>
          </p:cNvSpPr>
          <p:nvPr/>
        </p:nvSpPr>
        <p:spPr bwMode="gray">
          <a:xfrm flipV="1">
            <a:off x="6189658" y="4389580"/>
            <a:ext cx="2736000" cy="19621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234"/>
          <p:cNvSpPr>
            <a:spLocks noChangeShapeType="1"/>
          </p:cNvSpPr>
          <p:nvPr/>
        </p:nvSpPr>
        <p:spPr bwMode="gray">
          <a:xfrm>
            <a:off x="6189658" y="5401107"/>
            <a:ext cx="2736000" cy="5303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234"/>
          <p:cNvSpPr>
            <a:spLocks noChangeShapeType="1"/>
          </p:cNvSpPr>
          <p:nvPr/>
        </p:nvSpPr>
        <p:spPr bwMode="gray">
          <a:xfrm flipV="1">
            <a:off x="6189657" y="2418240"/>
            <a:ext cx="2736000" cy="7150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154743" y="2324438"/>
            <a:ext cx="1226443" cy="2209124"/>
            <a:chOff x="1715701" y="2457384"/>
            <a:chExt cx="1226443" cy="2209124"/>
          </a:xfrm>
        </p:grpSpPr>
        <p:sp>
          <p:nvSpPr>
            <p:cNvPr id="3" name="大橘原创PPT模板-请勿抄袭搬运！微信DAJU_PPT"/>
            <p:cNvSpPr/>
            <p:nvPr/>
          </p:nvSpPr>
          <p:spPr>
            <a:xfrm>
              <a:off x="1715701" y="2457384"/>
              <a:ext cx="652742" cy="801630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目</a:t>
              </a:r>
              <a:r>
                <a:rPr kumimoji="0" lang="en-US" altLang="zh-CN" sz="44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cs typeface="+mn-ea"/>
                  <a:sym typeface="+mn-lt"/>
                </a:rPr>
                <a:t>  </a:t>
              </a:r>
              <a:endPara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大橘原创PPT模板-请勿抄袭搬运！微信DAJU_PPT"/>
            <p:cNvSpPr/>
            <p:nvPr/>
          </p:nvSpPr>
          <p:spPr>
            <a:xfrm>
              <a:off x="2193221" y="3062502"/>
              <a:ext cx="748923" cy="769441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录</a:t>
              </a: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" name="大橘原创PPT模板-请勿抄袭搬运！微信DAJU_PPT"/>
            <p:cNvSpPr/>
            <p:nvPr/>
          </p:nvSpPr>
          <p:spPr>
            <a:xfrm>
              <a:off x="1802743" y="3197644"/>
              <a:ext cx="523220" cy="1468864"/>
            </a:xfrm>
            <a:prstGeom prst="rect">
              <a:avLst/>
            </a:prstGeom>
          </p:spPr>
          <p:txBody>
            <a:bodyPr vert="eaVert"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cs typeface="+mn-ea"/>
                  <a:sym typeface="+mn-lt"/>
                </a:rPr>
                <a:t>CONTENTS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6638946" y="4801827"/>
            <a:ext cx="2377440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总结展望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895302" y="67311"/>
            <a:ext cx="76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60570" y="75426"/>
            <a:ext cx="106685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总结：以目标轨迹实现车路一致定位</a:t>
            </a:r>
            <a:endParaRPr lang="zh-CN" altLang="en-US" sz="3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Shape 101"/>
          <p:cNvSpPr/>
          <p:nvPr/>
        </p:nvSpPr>
        <p:spPr>
          <a:xfrm>
            <a:off x="548640" y="1325880"/>
            <a:ext cx="2395728" cy="333756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3" name="Shape 102"/>
          <p:cNvSpPr/>
          <p:nvPr/>
        </p:nvSpPr>
        <p:spPr>
          <a:xfrm>
            <a:off x="777240" y="1600200"/>
            <a:ext cx="420624" cy="420624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103"/>
          <p:cNvSpPr txBox="1"/>
          <p:nvPr/>
        </p:nvSpPr>
        <p:spPr>
          <a:xfrm>
            <a:off x="777240" y="2194560"/>
            <a:ext cx="19385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多源测量存在偏差</a:t>
            </a:r>
            <a:endParaRPr lang="zh-CN"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104"/>
          <p:cNvSpPr txBox="1"/>
          <p:nvPr/>
        </p:nvSpPr>
        <p:spPr>
          <a:xfrm>
            <a:off x="777240" y="2971800"/>
            <a:ext cx="1938528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sz="3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1.11 m</a:t>
            </a:r>
            <a:endParaRPr lang="zh-CN" sz="30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105"/>
          <p:cNvSpPr txBox="1"/>
          <p:nvPr/>
        </p:nvSpPr>
        <p:spPr>
          <a:xfrm>
            <a:off x="777240" y="3657600"/>
            <a:ext cx="19385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sz="120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未修正时，车路同名目标
位置差的中位数</a:t>
            </a:r>
            <a:endParaRPr lang="zh-CN" sz="120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106"/>
          <p:cNvSpPr/>
          <p:nvPr/>
        </p:nvSpPr>
        <p:spPr>
          <a:xfrm>
            <a:off x="3035808" y="2839212"/>
            <a:ext cx="320040" cy="310896"/>
          </a:xfrm>
          <a:prstGeom prst="rightArrow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8" name="Shape 107"/>
          <p:cNvSpPr/>
          <p:nvPr/>
        </p:nvSpPr>
        <p:spPr>
          <a:xfrm>
            <a:off x="3447288" y="1325880"/>
            <a:ext cx="2395728" cy="333756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0" name="Shape 108"/>
          <p:cNvSpPr/>
          <p:nvPr/>
        </p:nvSpPr>
        <p:spPr>
          <a:xfrm>
            <a:off x="3675888" y="1600200"/>
            <a:ext cx="420624" cy="420624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9"/>
          <p:cNvSpPr txBox="1"/>
          <p:nvPr/>
        </p:nvSpPr>
        <p:spPr>
          <a:xfrm>
            <a:off x="3675888" y="2194560"/>
            <a:ext cx="19385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误差具有时变特征</a:t>
            </a:r>
            <a:endParaRPr lang="zh-CN"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0"/>
          <p:cNvSpPr txBox="1"/>
          <p:nvPr/>
        </p:nvSpPr>
        <p:spPr>
          <a:xfrm>
            <a:off x="3675888" y="2971800"/>
            <a:ext cx="1938528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sz="3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≈ 0.5 m</a:t>
            </a:r>
            <a:endParaRPr lang="zh-CN" sz="30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11"/>
          <p:cNvSpPr txBox="1"/>
          <p:nvPr/>
        </p:nvSpPr>
        <p:spPr>
          <a:xfrm>
            <a:off x="3675888" y="3657600"/>
            <a:ext cx="19385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sz="120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随序列变化 0.52 m；
序列内变化 0.49 m
（均为中位数）</a:t>
            </a:r>
            <a:endParaRPr lang="zh-CN" sz="120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Shape 112"/>
          <p:cNvSpPr/>
          <p:nvPr/>
        </p:nvSpPr>
        <p:spPr>
          <a:xfrm>
            <a:off x="5934456" y="2839212"/>
            <a:ext cx="320040" cy="310896"/>
          </a:xfrm>
          <a:prstGeom prst="rightArrow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6" name="Shape 113"/>
          <p:cNvSpPr/>
          <p:nvPr/>
        </p:nvSpPr>
        <p:spPr>
          <a:xfrm>
            <a:off x="6345936" y="1325880"/>
            <a:ext cx="2395728" cy="333756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7" name="Shape 114"/>
          <p:cNvSpPr/>
          <p:nvPr/>
        </p:nvSpPr>
        <p:spPr>
          <a:xfrm>
            <a:off x="6574536" y="1600200"/>
            <a:ext cx="420624" cy="420624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15"/>
          <p:cNvSpPr txBox="1"/>
          <p:nvPr/>
        </p:nvSpPr>
        <p:spPr>
          <a:xfrm>
            <a:off x="6574536" y="2194560"/>
            <a:ext cx="19385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sz="170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轨迹联合参数估计</a:t>
            </a:r>
            <a:endParaRPr lang="zh-CN"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16"/>
          <p:cNvSpPr txBox="1"/>
          <p:nvPr/>
        </p:nvSpPr>
        <p:spPr>
          <a:xfrm>
            <a:off x="6574536" y="2971800"/>
            <a:ext cx="1938528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sz="3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3 类参数</a:t>
            </a:r>
            <a:endParaRPr lang="zh-CN" sz="30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17"/>
          <p:cNvSpPr txBox="1"/>
          <p:nvPr/>
        </p:nvSpPr>
        <p:spPr>
          <a:xfrm>
            <a:off x="6574536" y="3657600"/>
            <a:ext cx="19385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sz="120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轨迹残差最小二乘拟合
平移、偏航角与时间偏差</a:t>
            </a:r>
            <a:endParaRPr lang="zh-CN" sz="120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Shape 118"/>
          <p:cNvSpPr/>
          <p:nvPr/>
        </p:nvSpPr>
        <p:spPr>
          <a:xfrm>
            <a:off x="8833104" y="2839212"/>
            <a:ext cx="320040" cy="310896"/>
          </a:xfrm>
          <a:prstGeom prst="rightArrow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22" name="Shape 119"/>
          <p:cNvSpPr/>
          <p:nvPr/>
        </p:nvSpPr>
        <p:spPr>
          <a:xfrm>
            <a:off x="9244584" y="1325880"/>
            <a:ext cx="2395728" cy="3337560"/>
          </a:xfrm>
          <a:prstGeom prst="roundRect">
            <a:avLst>
              <a:gd name="adj" fmla="val 6000"/>
            </a:avLst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23" name="Shape 120"/>
          <p:cNvSpPr/>
          <p:nvPr/>
        </p:nvSpPr>
        <p:spPr>
          <a:xfrm>
            <a:off x="9473184" y="1600200"/>
            <a:ext cx="420624" cy="42062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121"/>
          <p:cNvSpPr txBox="1"/>
          <p:nvPr/>
        </p:nvSpPr>
        <p:spPr>
          <a:xfrm>
            <a:off x="9473184" y="2194560"/>
            <a:ext cx="19385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误差修正效果显著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122"/>
          <p:cNvSpPr txBox="1"/>
          <p:nvPr/>
        </p:nvSpPr>
        <p:spPr>
          <a:xfrm>
            <a:off x="9473184" y="2971800"/>
            <a:ext cx="1938528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0.69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123"/>
          <p:cNvSpPr txBox="1"/>
          <p:nvPr/>
        </p:nvSpPr>
        <p:spPr>
          <a:xfrm>
            <a:off x="9473184" y="3657600"/>
            <a:ext cx="19385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sz="1200" b="0">
                <a:solidFill>
                  <a:srgbClr val="DCE3F2"/>
                </a:solidFill>
                <a:latin typeface="微软雅黑" panose="020B0503020204020204" charset="-122"/>
                <a:ea typeface="微软雅黑" panose="020B0503020204020204" charset="-122"/>
              </a:rPr>
              <a:t>车路一致率 @0.5 m
官方补丁 0.59；未修正 0.09</a:t>
            </a:r>
            <a:endParaRPr lang="zh-CN" sz="1200" b="0">
              <a:solidFill>
                <a:srgbClr val="DCE3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124"/>
          <p:cNvSpPr txBox="1"/>
          <p:nvPr/>
        </p:nvSpPr>
        <p:spPr>
          <a:xfrm>
            <a:off x="548640" y="4956048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sz="113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注：结果基于线性轨迹模型、标注目标框与真值关联；前 1 s 估计、后 1 s 评测，真实检测条件及绝对定位精度尚待验证。</a:t>
            </a:r>
            <a:endParaRPr lang="zh-CN"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125"/>
          <p:cNvSpPr txBox="1"/>
          <p:nvPr/>
        </p:nvSpPr>
        <p:spPr>
          <a:xfrm>
            <a:off x="548640" y="58978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sz="162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lang="zh-CN" sz="1620" b="1">
                <a:solidFill>
                  <a:srgbClr val="001E64"/>
                </a:solidFill>
                <a:latin typeface="微软雅黑" panose="020B0503020204020204" charset="-122"/>
                <a:ea typeface="微软雅黑" panose="020B0503020204020204" charset="-122"/>
              </a:rPr>
              <a:t>车路时空误差具有耦合与时变特征；通过轨迹联合估计空间与时间偏差，可有效提高多源测量的一致性。</a:t>
            </a:r>
            <a:endParaRPr lang="zh-CN" sz="1700" b="1">
              <a:solidFill>
                <a:srgbClr val="001E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66" y="113490"/>
            <a:ext cx="1945904" cy="6738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2424545" y="4287429"/>
            <a:ext cx="7342909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武汉大学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测绘遥感信息工程全国重点实验室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日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0" y="1540582"/>
            <a:ext cx="12192000" cy="2417955"/>
          </a:xfrm>
          <a:prstGeom prst="rect">
            <a:avLst/>
          </a:prstGeom>
          <a:solidFill>
            <a:srgbClr val="080E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latin typeface="微软雅黑" panose="020B0503020204020204" charset="-122"/>
                <a:ea typeface="微软雅黑" panose="020B0503020204020204" charset="-122"/>
              </a:rPr>
              <a:t>请各位老师同学批评指正！</a:t>
            </a:r>
            <a:endParaRPr lang="zh-CN" altLang="en-US" sz="4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图标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729" y="96171"/>
            <a:ext cx="6393734" cy="63848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PA" val="v3.0.1"/>
</p:tagLst>
</file>

<file path=ppt/tags/tag7.xml><?xml version="1.0" encoding="utf-8"?>
<p:tagLst xmlns:p="http://schemas.openxmlformats.org/presentationml/2006/main">
  <p:tag name="PA" val="v3.0.1"/>
</p:tagLst>
</file>

<file path=ppt/tags/tag8.xml><?xml version="1.0" encoding="utf-8"?>
<p:tagLst xmlns:p="http://schemas.openxmlformats.org/presentationml/2006/main">
  <p:tag name="PA" val="v3.0.1"/>
</p:tagLst>
</file>

<file path=ppt/tags/tag9.xml><?xml version="1.0" encoding="utf-8"?>
<p:tagLst xmlns:p="http://schemas.openxmlformats.org/presentationml/2006/main">
  <p:tag name="PA" val="v3.0.1"/>
</p:tagLst>
</file>

<file path=ppt/tags/tag10.xml><?xml version="1.0" encoding="utf-8"?>
<p:tagLst xmlns:p="http://schemas.openxmlformats.org/presentationml/2006/main">
  <p:tag name="PA" val="v3.0.1"/>
</p:tagLst>
</file>

<file path=ppt/tags/tag11.xml><?xml version="1.0" encoding="utf-8"?>
<p:tagLst xmlns:p="http://schemas.openxmlformats.org/presentationml/2006/main">
  <p:tag name="PA" val="v3.0.1"/>
</p:tagLst>
</file>

<file path=ppt/tags/tag12.xml><?xml version="1.0" encoding="utf-8"?>
<p:tagLst xmlns:p="http://schemas.openxmlformats.org/presentationml/2006/main">
  <p:tag name="PA" val="v3.0.1"/>
</p:tagLst>
</file>

<file path=ppt/tags/tag13.xml><?xml version="1.0" encoding="utf-8"?>
<p:tagLst xmlns:p="http://schemas.openxmlformats.org/presentationml/2006/main">
  <p:tag name="PA" val="v3.0.1"/>
</p:tagLst>
</file>

<file path=ppt/tags/tag14.xml><?xml version="1.0" encoding="utf-8"?>
<p:tagLst xmlns:p="http://schemas.openxmlformats.org/presentationml/2006/main">
  <p:tag name="PA" val="v3.0.1"/>
</p:tagLst>
</file>

<file path=ppt/tags/tag15.xml><?xml version="1.0" encoding="utf-8"?>
<p:tagLst xmlns:p="http://schemas.openxmlformats.org/presentationml/2006/main">
  <p:tag name="PA" val="v3.0.1"/>
</p:tagLst>
</file>

<file path=ppt/tags/tag16.xml><?xml version="1.0" encoding="utf-8"?>
<p:tagLst xmlns:p="http://schemas.openxmlformats.org/presentationml/2006/main">
  <p:tag name="PA" val="v3.0.1"/>
</p:tagLst>
</file>

<file path=ppt/tags/tag17.xml><?xml version="1.0" encoding="utf-8"?>
<p:tagLst xmlns:p="http://schemas.openxmlformats.org/presentationml/2006/main">
  <p:tag name="COMMONDATA" val="eyJoZGlkIjoiMGU4ZDRiNTA4NDg4MjA3ZmZlZWIwYjE5OGUyNDBlZm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4012</Words>
  <Application>WPS 演示</Application>
  <PresentationFormat>宽屏</PresentationFormat>
  <Paragraphs>652</Paragraphs>
  <Slides>19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7" baseType="lpstr">
      <vt:lpstr>Arial</vt:lpstr>
      <vt:lpstr>宋体</vt:lpstr>
      <vt:lpstr>Wingdings</vt:lpstr>
      <vt:lpstr>方正悠黑_513B</vt:lpstr>
      <vt:lpstr>黑体</vt:lpstr>
      <vt:lpstr>等线</vt:lpstr>
      <vt:lpstr>Times New Roman</vt:lpstr>
      <vt:lpstr>Times New Roman</vt:lpstr>
      <vt:lpstr>微软雅黑</vt:lpstr>
      <vt:lpstr>思源黑体 CN Regular</vt:lpstr>
      <vt:lpstr>Arial Unicode MS</vt:lpstr>
      <vt:lpstr>等线 Light</vt:lpstr>
      <vt:lpstr>Calibri</vt:lpstr>
      <vt:lpstr>思源黑体 CN Regular</vt:lpstr>
      <vt:lpstr>方正悠黑_513B</vt:lpstr>
      <vt:lpstr>方正悠黑体</vt:lpstr>
      <vt:lpstr>清雅黑体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智能无人系统</dc:title>
  <dc:creator>昂 金</dc:creator>
  <cp:lastModifiedBy>陈洋</cp:lastModifiedBy>
  <cp:revision>53</cp:revision>
  <dcterms:created xsi:type="dcterms:W3CDTF">2023-10-26T03:16:00Z</dcterms:created>
  <dcterms:modified xsi:type="dcterms:W3CDTF">2026-10-14T11:33:34Z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C05D394544F941159570CF27CC98FE0F_13</vt:lpwstr>
  </property>
  <property fmtid="{D5CDD505-2E9C-101B-9397-08002B2CF9AE}" pid="3" name="KSOProductBuildVer">
    <vt:lpwstr>2052-12.1.0.28043</vt:lpwstr>
  </property>
</Properties>
</file>