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007578281" r:id="rId10"/>
    <p:sldId id="2007578282" r:id="rId11"/>
    <p:sldId id="2007578283" r:id="rId12"/>
    <p:sldId id="2007578284" r:id="rId13"/>
    <p:sldId id="2007578285" r:id="rId14"/>
    <p:sldId id="2007578286" r:id="rId15"/>
    <p:sldId id="2007578287" r:id="rId9"/>
    <p:sldId id="2007578288" r:id="rId8"/>
    <p:sldId id="2007578289" r:id="rId7"/>
    <p:sldId id="2007578290" r:id="rId6"/>
    <p:sldId id="2007578291" r:id="rId5"/>
    <p:sldId id="2007578279" r:id="rId23"/>
    <p:sldId id="2007578280" r:id="rId24"/>
    <p:sldId id="2007578292" r:id="rId4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D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tags" Target="tags/tag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一致率@0.5 m</c:v>
                </c:pt>
              </c:strCache>
            </c:strRef>
          </c:tx>
          <c:dPt>
            <c:idx val="0"/>
            <c:spPr>
              <a:solidFill>
                <a:srgbClr val="9AA3B5"/>
              </a:solidFill>
            </c:spPr>
          </c:dPt>
          <c:dPt>
            <c:idx val="1"/>
            <c:spPr>
              <a:solidFill>
                <a:srgbClr val="001E64"/>
              </a:solidFill>
            </c:spPr>
          </c:dPt>
          <c:dPt>
            <c:idx val="2"/>
            <c:spPr>
              <a:solidFill>
                <a:srgbClr val="C00000"/>
              </a:solidFill>
            </c:spPr>
          </c:dPt>
          <c:cat>
            <c:strRef>
              <c:f>Sheet1!$A$2:$A$4</c:f>
              <c:strCache>
                <c:ptCount val="3"/>
                <c:pt idx="0">
                  <c:v>不修正</c:v>
                </c:pt>
                <c:pt idx="1">
                  <c:v>官方人工补丁</c:v>
                </c:pt>
                <c:pt idx="2">
                  <c:v>轨迹在线估计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</c:v>
                </c:pt>
                <c:pt idx="1">
                  <c:v>0.59</c:v>
                </c:pt>
                <c:pt idx="2">
                  <c:v>0.69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300">
          <a:solidFill>
            <a:srgbClr val="222222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观测噪声 0.2 m</c:v>
                </c:pt>
              </c:strCache>
            </c:strRef>
          </c:tx>
          <c:spPr>
            <a:solidFill>
              <a:srgbClr val="001E64"/>
            </a:solidFill>
          </c:spPr>
          <c:cat>
            <c:strRef>
              <c:f>Sheet1!$A$2:$A$4</c:f>
              <c:strCache>
                <c:ptCount val="3"/>
                <c:pt idx="0">
                  <c:v>方向单一
（如均为直行）</c:v>
                </c:pt>
                <c:pt idx="1">
                  <c:v>中等</c:v>
                </c:pt>
                <c:pt idx="2">
                  <c:v>方向多样
（含转弯、横穿）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</c:v>
                </c:pt>
                <c:pt idx="1">
                  <c:v>16</c:v>
                </c:pt>
                <c:pt idx="2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观测噪声 0.5 m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Sheet1!$A$2:$A$4</c:f>
              <c:strCache>
                <c:ptCount val="3"/>
                <c:pt idx="0">
                  <c:v>方向单一
（如均为直行）</c:v>
                </c:pt>
                <c:pt idx="1">
                  <c:v>中等</c:v>
                </c:pt>
                <c:pt idx="2">
                  <c:v>方向多样
（含转弯、横穿）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342</c:v>
                </c:pt>
                <c:pt idx="1">
                  <c:v>41</c:v>
                </c:pt>
                <c:pt idx="2">
                  <c:v>32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100.0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22222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982-CE9B-4D35-9365-D7CFCFB4279D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F5DDE-60A4-438D-A63A-7E96D148ABE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课程作业。主体论文与代码归属 Qu 等作者；末尾轨迹时差页来自原小组组会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【讲法】全稿中心思想：目标轨迹是车路两端都有的信息，而且同时带着空间和时间信息。</a:t>
            </a:r>
          </a:p>
          <a:p>
            <a:r>
              <a:t>三栏图：</a:t>
            </a:r>
          </a:p>
          <a:p>
            <a:r>
              <a:t>1. 空间误差：整条轨迹被整体平移、旋转（外参误差或定位偏差的样子）。</a:t>
            </a:r>
          </a:p>
          <a:p>
            <a:r>
              <a:t>2. 时间偏差：观测点沿轨迹前后滑动，滑动距离＝车速 × 时间偏差。静止目标看不出时间偏差，运动目标才看得出。</a:t>
            </a:r>
          </a:p>
          <a:p>
            <a:r>
              <a:t>3. 可观测性：车都直行时，"沿轨迹滑动"和"沿行驶方向平移"长得一模一样，分不开；转弯时滑动方向跟着变，就能分开。这对应初步验证页右图。</a:t>
            </a:r>
          </a:p>
          <a:p/>
          <a:p>
            <a:r>
              <a:t>【可能被问】</a:t>
            </a:r>
          </a:p>
          <a:p>
            <a:r>
              <a:t>问：用轨迹做标定不是 TrajMatch 已经做过了吗？答：它是路侧对路侧、常数时间偏差、离线，且不涉及车辆定位误差；我们是车路之间、随时间变化、在线，评价看车路一致。</a:t>
            </a:r>
          </a:p>
          <a:p>
            <a:r>
              <a:t>问：和 CoAlign 有什么不同？答：它逐帧在网络里做位姿图对齐，以检测精度评价；我们利用时间上连续的轨迹并处理时间偏差。具体差异列在展望页备注的讨论议题里，组会后精读正文确认。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【先说清楚】这不是"轨迹预测"，没有预测未来。是"在线估计修正量"：用过去 1 秒两端共同看到的目标轨迹，估一组修正参数，用到接下来 1 秒。</a:t>
            </a:r>
          </a:p>
          <a:p/>
          <a:p>
            <a:r>
              <a:t>【左图怎么实现的】</a:t>
            </a:r>
          </a:p>
          <a:p>
            <a:r>
              <a:t>1. 目标：所有车路协同帧对里，官方协同标注给出对应关系、且车端能算出速度的目标；参与评测 46519 个。</a:t>
            </a:r>
          </a:p>
          <a:p>
            <a:r>
              <a:t>2. 坐标：路侧目标中心按数据集外参换到车端激光雷达坐标系，记 p_路；车端同一目标记 p_车。</a:t>
            </a:r>
          </a:p>
          <a:p>
            <a:r>
              <a:t>3. 模型：p_车 − p_路 ≈ T + θ·（与 p_路 垂直的方向）+ v·τ。</a:t>
            </a:r>
          </a:p>
          <a:p>
            <a:r>
              <a:t>   T＝二维平移（2 个数）；θ＝偏航，绕竖直轴的小角度；τ＝时间偏差；v＝目标速度，用车端轨迹前后两帧位置差除以时间差得到。</a:t>
            </a:r>
          </a:p>
          <a:p>
            <a:r>
              <a:t>   线性化后是普通最小二乘，全数据集几十秒算完，没有网络。</a:t>
            </a:r>
          </a:p>
          <a:p>
            <a:r>
              <a:t>4. 在线：每段序列按 10 帧（约 1 s）切窗口；用第 k 个窗口里所有目标估参数，套到第 k+1 个窗口上算距离。估计和评测的数据在时间上不重叠，共 766 个窗口。</a:t>
            </a:r>
          </a:p>
          <a:p>
            <a:r>
              <a:t>5. 为什么比人工补丁好：补丁每帧只有一个平移，不含旋转和时间；我们多估了偏航和时间，并用 1 秒内所有目标一起约束。逐项看一致率@0.5 m：只估平移 0.55，加偏航 0.65，再加时间偏差 0.69；人工补丁 0.59。</a:t>
            </a:r>
          </a:p>
          <a:p>
            <a:r>
              <a:t>6. 窗口拉长到 3 s，一致率降到 0.52：误差在变，需要持续在线更新。</a:t>
            </a:r>
          </a:p>
          <a:p>
            <a:r>
              <a:t>7. 估出来的量（中位数）：平移约 1.1 m，偏航约 0.6°，时间偏差绝对值约 29 ms。</a:t>
            </a:r>
          </a:p>
          <a:p>
            <a:r>
              <a:t>8. 表中"图像 IoU"一行：同样的修正用到路侧图像上，0.48 → 0.60（补丁）→ 0.62（在线估计）。</a:t>
            </a:r>
          </a:p>
          <a:p/>
          <a:p>
            <a:r>
              <a:t>【右图怎么实现的】</a:t>
            </a:r>
          </a:p>
          <a:p>
            <a:r>
              <a:t>- 目的：时间偏差没有真值，所以人为注入已知误差，看能不能估回来。</a:t>
            </a:r>
          </a:p>
          <a:p>
            <a:r>
              <a:t>- 每个 1 s 窗口随机注入：偏航 ±1°、平移每轴 ±1 m、时间偏差 ±100 ms，各做 5 次，共 4020 次；再给观测加 0.2 m 或 0.5 m 的高斯噪声，模拟检测误差。</a:t>
            </a:r>
          </a:p>
          <a:p>
            <a:r>
              <a:t>- 注入前估一次、注入后估一次，两次之差就是对注入量的估计，和注入的真值比。这样可以抵消数据本身已有的误差。</a:t>
            </a:r>
          </a:p>
          <a:p>
            <a:r>
              <a:t>- 分组：窗口内运动目标速度方向的分散程度（方向向量协方差矩阵的最小特征值，0 表示全部同向）。</a:t>
            </a:r>
          </a:p>
          <a:p>
            <a:r>
              <a:t>- 数字含义：90% 的窗口里，时间偏差估计误差不超过多少毫秒。方向单一时 137 / 342 ms，方向多样时 13 / 32 ms，差约 10 倍。</a:t>
            </a:r>
          </a:p>
          <a:p/>
          <a:p>
            <a:r>
              <a:t>【可能被问】</a:t>
            </a:r>
          </a:p>
          <a:p>
            <a:r>
              <a:t>问：用真值关联是不是太理想？答：是理想条件，目的只是验证"轨迹能不能当桥梁"；换成真实检测与跨端关联是下一步。</a:t>
            </a:r>
          </a:p>
          <a:p>
            <a:r>
              <a:t>问：估计和评测都看一致性，是不是自己评自己？答：时间上已分开；后续还会留出部分目标只评不估，并用图像 IoU 独立佐证（0.62 &gt; 0.60）。</a:t>
            </a:r>
          </a:p>
          <a:p>
            <a:r>
              <a:t>问：为什么图像 IoU 只提升 0.02？答：这个修正只作用于车端与路侧激光雷达之间，修不了路侧激光雷达到相机那一段，图像上可达上界只有 0.70。这也是构想里第一阶段要修正路侧相机外参的原因。</a:t>
            </a:r>
          </a:p>
          <a:p>
            <a:r>
              <a:t>问：0.69 是网络做的吗？答：不是，只是线性最小二乘；网络是下一步的方法设计。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27305"/>
            <a:ext cx="12192000" cy="81280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35360" y="207998"/>
            <a:ext cx="384000" cy="288000"/>
          </a:xfrm>
          <a:prstGeom prst="rect">
            <a:avLst/>
          </a:prstGeom>
          <a:solidFill>
            <a:srgbClr val="CFD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527413" y="352038"/>
            <a:ext cx="288000" cy="216000"/>
          </a:xfrm>
          <a:prstGeom prst="rect">
            <a:avLst/>
          </a:prstGeom>
          <a:solidFill>
            <a:srgbClr val="537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13" name="矩形 12"/>
          <p:cNvSpPr/>
          <p:nvPr userDrawn="1"/>
        </p:nvSpPr>
        <p:spPr>
          <a:xfrm>
            <a:off x="0" y="785657"/>
            <a:ext cx="12192000" cy="72000"/>
          </a:xfrm>
          <a:prstGeom prst="rect">
            <a:avLst/>
          </a:prstGeom>
          <a:solidFill>
            <a:srgbClr val="CFD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lide Number Placeholder 5"/>
          <p:cNvSpPr txBox="1"/>
          <p:nvPr userDrawn="1"/>
        </p:nvSpPr>
        <p:spPr>
          <a:xfrm>
            <a:off x="11472333" y="6381750"/>
            <a:ext cx="719667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rgbClr val="203D88"/>
                </a:solidFill>
                <a:latin typeface="方正悠黑_513B" panose="02000000000000000000" pitchFamily="2" charset="-122"/>
                <a:ea typeface="方正悠黑_513B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9FFD6BF-F97A-4495-B095-1E583C47DD89}" type="slidenum">
              <a:rPr lang="zh-CN" altLang="en-US" sz="1800" smtClean="0"/>
              <a:t>‹#›</a:t>
            </a:fld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0F1C1-5168-4E6E-8D45-3ED56E80BB11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0E2DA-484D-44BE-A764-A45E9C6774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目标级车路空间配准：测量模型与求解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现代测量数据处理 · 课程小组汇报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087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203D88"/>
                </a:solidFill>
                <a:latin typeface="微软雅黑"/>
              </a:rPr>
              <a:t>以 V2I-Calib 开源代码为主体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95728"/>
            <a:ext cx="10744200" cy="2057400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24128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001E64"/>
                </a:solidFill>
                <a:latin typeface="微软雅黑"/>
              </a:rPr>
              <a:t>车端目标框  →  跨端关联  →  刚体外参估计  →  误差评价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75887"/>
            <a:ext cx="99669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203D88"/>
                </a:solidFill>
                <a:latin typeface="微软雅黑"/>
              </a:rPr>
              <a:t>小组原有轨迹时差实验列为扩展分析，单独标注来源。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309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汇报人：卞浩邈    武汉大学 · 测绘遥感信息工程全国重点实验室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问题与汇报边界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V2I-Calib, IROS 2024；上游代码仓库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98448"/>
            <a:ext cx="3520440" cy="3456432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298448"/>
            <a:ext cx="352044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517904"/>
            <a:ext cx="319125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课程问题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002536"/>
            <a:ext cx="3191256" cy="2642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不同坐标系中的车端、路侧目标框，怎样建立对应关系并估计空间变换？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298448"/>
            <a:ext cx="3520440" cy="3456432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298448"/>
            <a:ext cx="352044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517904"/>
            <a:ext cx="319125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代码主体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002536"/>
            <a:ext cx="3191256" cy="2642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V2I-Calib：目标框筛选、关联、刚体配准、外参评价。讲解 oIoU 关联路线。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298448"/>
            <a:ext cx="3520440" cy="3456432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298448"/>
            <a:ext cx="352044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517904"/>
            <a:ext cx="319125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小组扩展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002536"/>
            <a:ext cx="3191256" cy="26426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原组会分析：利用连续目标轨迹估计随时间变化的空间误差与车路时差。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论文方法与小组扩展分开讲；课程不要求复现，所有数字均标明来源。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观测对象：两端三维目标框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V2I-Calib, IROS 2024；上游代码仓库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53312"/>
            <a:ext cx="5257800" cy="3218688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53312"/>
            <a:ext cx="52578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72768"/>
            <a:ext cx="49286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车端观测 Bᵥ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57400"/>
            <a:ext cx="4928616" cy="24048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每帧包含若干目标：类别、三维框中心、尺寸与朝向；坐标在车端激光雷达系。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353312"/>
            <a:ext cx="5257800" cy="3218688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1353312"/>
            <a:ext cx="52578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572768"/>
            <a:ext cx="49286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路侧观测 Bᵢ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057400"/>
            <a:ext cx="4928616" cy="24048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同一交通场景由路侧激光雷达观测；目标数和可见范围可能不同。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01091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输入不是逐点配准的原始点云，而是检测或标注得到的目标框。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共同目标提供跨端几何约束；遮挡与漏检使关联成为求解前提。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测量模型：求两端刚体变换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V2I-Calib 论文 §II，式 (1)–(4)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25880"/>
            <a:ext cx="10863072" cy="1216152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36776"/>
            <a:ext cx="10332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001E64"/>
                </a:solidFill>
                <a:latin typeface="微软雅黑"/>
              </a:rPr>
              <a:t>pᵥ = R pᵢ + t + 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07792"/>
            <a:ext cx="3410712" cy="2167128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3410712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127248"/>
            <a:ext cx="308152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未知量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11880"/>
            <a:ext cx="3081528" cy="1353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旋转矩阵 R、平移向量 t；组成 4×4 齐次外参 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907792"/>
            <a:ext cx="3410712" cy="2167128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907792"/>
            <a:ext cx="3410712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127248"/>
            <a:ext cx="308152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观测量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611880"/>
            <a:ext cx="3081528" cy="1353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共同目标的三维框顶点；由目标框构成稀疏特征点集。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907792"/>
            <a:ext cx="3410712" cy="2167128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907792"/>
            <a:ext cx="3410712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127248"/>
            <a:ext cx="308152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误差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611880"/>
            <a:ext cx="3081528" cy="1353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标注或检测噪声、遮挡、错误关联以及未处理的时差。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先找到对应目标，再求 R、t，使对应几何特征尽量重合。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数据与预处理：从标注框进入算法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上游 README：DAIR-V2X cooperative，GT 目标级配置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61872"/>
            <a:ext cx="3438144" cy="361188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61872"/>
            <a:ext cx="3438144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数据文件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3108960" cy="2798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微软雅黑"/>
              </a:rPr>
              <a:t>cooperative/data_info.json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微软雅黑"/>
              </a:rPr>
              <a:t>vehicle-side/label/lidar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微软雅黑"/>
              </a:rPr>
              <a:t>infrastructure-side/label/virtuallidar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微软雅黑"/>
              </a:rPr>
              <a:t>cooperative/calib/lidar_i2v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61872"/>
            <a:ext cx="3438144" cy="361188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261872"/>
            <a:ext cx="3438144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481328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预处理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65960"/>
            <a:ext cx="3108960" cy="2798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选择帧对；读取两端三维框；按类别、距离和数量筛选候选目标。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261872"/>
            <a:ext cx="3438144" cy="361188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261872"/>
            <a:ext cx="3438144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481328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参照外参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965960"/>
            <a:ext cx="3108960" cy="2798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数据集外参用于计算旋转和平移误差；输入目标级 GT 框实验不需要原始图像和点云。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课堂演示以数据结构与算法流程为主；数据集未包含在提交包。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目标关联：候选变换与 oIoU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V2I-Calib 论文 §III-A，式 (5)–(6)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34440"/>
            <a:ext cx="3502152" cy="3511296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234440"/>
            <a:ext cx="3502152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453896"/>
            <a:ext cx="31729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① 假设匹配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938528"/>
            <a:ext cx="3172968" cy="269747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从可能同类的车路目标框中取候选对应，得到候选空间变换。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234440"/>
            <a:ext cx="3502152" cy="3511296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234440"/>
            <a:ext cx="3502152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453896"/>
            <a:ext cx="31729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② 场景评分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938528"/>
            <a:ext cx="3172968" cy="269747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把一端所有目标框变换到另一端；以整体三维 IoU（oIoU）评价场景重合程度。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234440"/>
            <a:ext cx="3502152" cy="3511296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234440"/>
            <a:ext cx="3502152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453896"/>
            <a:ext cx="31729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③ 亲和矩阵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938528"/>
            <a:ext cx="3172968" cy="269747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组合核心亲和度与类别等辅助信息，形成跨端目标两两匹配得分。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5084064"/>
            <a:ext cx="1005840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03D88"/>
                </a:solidFill>
                <a:latin typeface="微软雅黑"/>
              </a:rPr>
              <a:t>oIoU = Σ IoU₃ᴰ(Bᵥ, T Bᵢ) / max(m, 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评分利用整个场景约束，减轻单个相似目标造成的歧义。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从亲和矩阵到共同目标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V2I-Calib 论文 §III-B；上游 calib/matching/engine.py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26464"/>
            <a:ext cx="4663440" cy="3163824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764792"/>
            <a:ext cx="402336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001E64"/>
                </a:solidFill>
                <a:latin typeface="微软雅黑"/>
              </a:rPr>
              <a:t>跨端亲和矩阵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68880"/>
            <a:ext cx="4069080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203D88"/>
                </a:solidFill>
                <a:latin typeface="微软雅黑"/>
              </a:rPr>
              <a:t>Aᵢⱼ = 目标 i 与目标 j 的匹配得分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37560"/>
            <a:ext cx="3931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类别 / 核心几何关系 → 得分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426464"/>
            <a:ext cx="5303520" cy="3163824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764792"/>
            <a:ext cx="473659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001E64"/>
                </a:solidFill>
                <a:latin typeface="微软雅黑"/>
              </a:rPr>
              <a:t>线性分配与筛选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23160"/>
            <a:ext cx="4581144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203D88"/>
                </a:solidFill>
                <a:latin typeface="微软雅黑"/>
              </a:rPr>
              <a:t>按亲和度寻找一对一对应；</a:t>
            </a:r>
          </a:p>
          <a:p>
            <a:pPr algn="ctr">
              <a:spcAft>
                <a:spcPts val="300"/>
              </a:spcAft>
            </a:pPr>
            <a:r>
              <a:rPr sz="1800" b="0">
                <a:solidFill>
                  <a:srgbClr val="203D88"/>
                </a:solidFill>
                <a:latin typeface="微软雅黑"/>
              </a:rPr>
              <a:t>筛除低分或不稳定的匹配。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13048"/>
            <a:ext cx="4526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555555"/>
                </a:solidFill>
                <a:latin typeface="微软雅黑"/>
              </a:rPr>
              <a:t>输出：共同目标框对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错误匹配会直接污染外参估计，因此关联质量是关键误差来源。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外参求解：SVD 与迭代优化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V2I-Calib 论文 §III-C；上游 calib/solvers/svd.py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98448"/>
            <a:ext cx="3474720" cy="347472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298448"/>
            <a:ext cx="347472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517904"/>
            <a:ext cx="314553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点集构造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002536"/>
            <a:ext cx="3145536" cy="26609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从匹配目标框提取顶点或几何特征，形成两端对应点集。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298448"/>
            <a:ext cx="3474720" cy="347472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298448"/>
            <a:ext cx="347472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517904"/>
            <a:ext cx="314553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刚体最小二乘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002536"/>
            <a:ext cx="3145536" cy="26609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最小化 Σ‖pᵥ,k − (R pᵢ,k + t)‖²；由 SVD 求初始 R、t。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298448"/>
            <a:ext cx="3474720" cy="347472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298448"/>
            <a:ext cx="347472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517904"/>
            <a:ext cx="314553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细化与检验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002536"/>
            <a:ext cx="3145536" cy="26609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使用匹配筛选和迭代策略优化估计，并检查结果是否稳定。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074920"/>
            <a:ext cx="101955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203D88"/>
                </a:solidFill>
                <a:latin typeface="微软雅黑"/>
              </a:rPr>
              <a:t>T = [ R  t ; 0  1 ]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数据处理主链：观测筛选 → 对应关系 → 最小二乘配准 → 质量判断。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提交代码：如何对应到方法步骤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上游仓库固定版本 21531399…；详细路径见 COURSE_README.md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261872"/>
            <a:ext cx="10808208" cy="557784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335024"/>
            <a:ext cx="1874519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01E64"/>
                </a:solidFill>
                <a:latin typeface="微软雅黑"/>
              </a:rPr>
              <a:t>实验配置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335024"/>
            <a:ext cx="830275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configs/pipeline_paper3737_oiou_gt15_thr4_top6_iter2.yaml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1920239"/>
            <a:ext cx="10808208" cy="557784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1993391"/>
            <a:ext cx="1874519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01E64"/>
                </a:solidFill>
                <a:latin typeface="微软雅黑"/>
              </a:rPr>
              <a:t>运行入口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993391"/>
            <a:ext cx="830275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tools/run_calibration.py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2578608"/>
            <a:ext cx="10808208" cy="557784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651760"/>
            <a:ext cx="1874519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01E64"/>
                </a:solidFill>
                <a:latin typeface="微软雅黑"/>
              </a:rPr>
              <a:t>处理主流程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651760"/>
            <a:ext cx="830275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calib/pipelines/object_level.py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236976"/>
            <a:ext cx="10808208" cy="557784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310128"/>
            <a:ext cx="1874519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01E64"/>
                </a:solidFill>
                <a:latin typeface="微软雅黑"/>
              </a:rPr>
              <a:t>目标关联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310128"/>
            <a:ext cx="830275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calib/matching/engine.py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895344"/>
            <a:ext cx="10808208" cy="557784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968496"/>
            <a:ext cx="1874519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01E64"/>
                </a:solidFill>
                <a:latin typeface="微软雅黑"/>
              </a:rPr>
              <a:t>外参求解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968496"/>
            <a:ext cx="830275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calib/solvers/svd.py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" y="4553712"/>
            <a:ext cx="10808208" cy="557784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626864"/>
            <a:ext cx="1874519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01E64"/>
                </a:solidFill>
                <a:latin typeface="微软雅黑"/>
              </a:rPr>
              <a:t>结果评价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626864"/>
            <a:ext cx="830275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calib/evaluation/metrics.py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代码为原作者的 MIT 开源实现；本组新增课程说明与展示材料。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评价指标与论文报告结果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数值来自 V2I-Calib 原论文 Table II（easy group）；非本组复现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1271016"/>
            <a:ext cx="3429000" cy="2276856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" y="1271016"/>
            <a:ext cx="34290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490472"/>
            <a:ext cx="30998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旋转误差 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75104"/>
            <a:ext cx="3099816" cy="1463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估计旋转与参考旋转的夹角；单位 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271016"/>
            <a:ext cx="3429000" cy="2276856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271016"/>
            <a:ext cx="34290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490472"/>
            <a:ext cx="30998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平移误差 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75104"/>
            <a:ext cx="3099816" cy="1463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估计平移与参考平移的欧氏距离；单位 m。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271016"/>
            <a:ext cx="3429000" cy="2276856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271016"/>
            <a:ext cx="34290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490472"/>
            <a:ext cx="30998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成功率 / 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75104"/>
            <a:ext cx="3099816" cy="1463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论文按 RTE &lt; 2 m 统计成功率，并报告运行时间。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968496"/>
            <a:ext cx="10817352" cy="1207008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42816"/>
            <a:ext cx="1028700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01E64"/>
                </a:solidFill>
                <a:latin typeface="微软雅黑"/>
              </a:rPr>
              <a:t>原论文 easy group：RRE 0.68°  |  RTE 0.56 m  |  成功率 96.8%  |  时间 0.21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这些是论文发表结果；本次仅提交相关代码，不声称完成复现。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方法边界：空间配准之外还有时差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V2I-Calib 空间配准；后两页为原组会 PPT 中的小组分析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1298448"/>
            <a:ext cx="5202936" cy="3447288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" y="1298448"/>
            <a:ext cx="5202936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517904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V2I-Calib 已覆盖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002536"/>
            <a:ext cx="4873752" cy="2633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  <a:latin typeface="微软雅黑"/>
              </a:rPr>
              <a:t>同一时刻或已对齐帧对中的目标关联与空间外参估计。输入是三维目标框。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1298448"/>
            <a:ext cx="5202936" cy="3447288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298448"/>
            <a:ext cx="5202936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517904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小组扩展所研究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002536"/>
            <a:ext cx="4873752" cy="2633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  <a:latin typeface="微软雅黑"/>
              </a:rPr>
              <a:t>目标轨迹跨越多个时刻；空间偏差与时间偏差都可能改变两端对同一目标的位置。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93208"/>
            <a:ext cx="1057960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203D88"/>
                </a:solidFill>
                <a:latin typeface="微软雅黑"/>
              </a:rPr>
              <a:t>时间偏差引起的位移 ≈ 目标速度 × 时间偏差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后两页保留原组会图表，作为独立分析，不归因于 V2I-Calib 代码。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1440"/>
          </a:xfrm>
          <a:prstGeom prst="rect">
            <a:avLst/>
          </a:prstGeom>
          <a:solidFill>
            <a:srgbClr val="001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92608"/>
            <a:ext cx="65836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001E64"/>
                </a:solidFill>
                <a:latin typeface="微软雅黑"/>
              </a:rPr>
              <a:t>总结与资料来源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41832"/>
            <a:ext cx="11274552" cy="22860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本地代码包：course_v2i_calib；课程 PPT 根据原组会材料重排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1252728"/>
            <a:ext cx="3429000" cy="320040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" y="1252728"/>
            <a:ext cx="34290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472184"/>
            <a:ext cx="30998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测量模型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56816"/>
            <a:ext cx="3099816" cy="23865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共同目标框构成跨端观测，目标是估计车路刚体空间变换。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252728"/>
            <a:ext cx="3429000" cy="320040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252728"/>
            <a:ext cx="34290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472184"/>
            <a:ext cx="30998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算法链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56816"/>
            <a:ext cx="3099816" cy="23865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oIoU 场景评分、目标关联、SVD 外参求解、RRE/RTE 评价。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252728"/>
            <a:ext cx="3429000" cy="3200400"/>
          </a:xfrm>
          <a:prstGeom prst="roundRect">
            <a:avLst/>
          </a:prstGeom>
          <a:solidFill>
            <a:srgbClr val="F6F8FC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252728"/>
            <a:ext cx="3429000" cy="109728"/>
          </a:xfrm>
          <a:prstGeom prst="rect">
            <a:avLst/>
          </a:prstGeom>
          <a:solidFill>
            <a:srgbClr val="203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472184"/>
            <a:ext cx="309981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03D88"/>
                </a:solidFill>
                <a:latin typeface="微软雅黑"/>
              </a:rPr>
              <a:t>扩展方向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56816"/>
            <a:ext cx="3099816" cy="23865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小组原有轨迹分析提示：部署中还需考虑随时间变化的误差。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736592"/>
            <a:ext cx="106984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论文：arxiv.org/abs/2407.10195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129784"/>
            <a:ext cx="106984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03D88"/>
                </a:solidFill>
                <a:latin typeface="微软雅黑"/>
              </a:rPr>
              <a:t>代码：github.com/MassimoQu/v2i-calib  ·  MIT License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06440"/>
            <a:ext cx="11228832" cy="53035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879592"/>
            <a:ext cx="109270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软雅黑"/>
              </a:rPr>
              <a:t>■  本课程展示区分论文报告、开源代码与小组原有实验。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核心思路：轨迹作为车路桥梁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0972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207008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1188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1E64"/>
                </a:solidFill>
                <a:latin typeface="微软雅黑"/>
                <a:ea typeface="微软雅黑"/>
              </a:rPr>
              <a:t>空间误差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整条轨迹整体平移 / 旋转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0972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59" y="1207008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1188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1E64"/>
                </a:solidFill>
                <a:latin typeface="微软雅黑"/>
                <a:ea typeface="微软雅黑"/>
              </a:rPr>
              <a:t>时间偏差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3832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观测点沿轨迹滑移：位移＝速度 × 时间偏差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0972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9" y="1207008"/>
            <a:ext cx="365760" cy="365760"/>
          </a:xfrm>
          <a:prstGeom prst="ellipse">
            <a:avLst/>
          </a:prstGeom>
          <a:solidFill>
            <a:srgbClr val="001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799" y="11887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1E64"/>
                </a:solidFill>
                <a:latin typeface="微软雅黑"/>
                <a:ea typeface="微软雅黑"/>
              </a:rPr>
              <a:t>可观测性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3832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直行时与沿向平移不可区分；转弯时可区分</a:t>
            </a:r>
          </a:p>
        </p:txBody>
      </p:sp>
      <p:sp>
        <p:nvSpPr>
          <p:cNvPr id="2" name="Freeform 1"/>
          <p:cNvSpPr/>
          <p:nvPr/>
        </p:nvSpPr>
        <p:spPr>
          <a:xfrm>
            <a:off x="914400" y="1968125"/>
            <a:ext cx="2743200" cy="1095115"/>
          </a:xfrm>
          <a:custGeom>
            <a:avLst/>
            <a:gdLst/>
            <a:ahLst/>
            <a:cxnLst/>
            <a:rect l="l" t="t" r="r" b="b"/>
            <a:pathLst>
              <a:path w="2743200" h="1095115">
                <a:moveTo>
                  <a:pt x="0" y="1095115"/>
                </a:moveTo>
                <a:lnTo>
                  <a:pt x="274320" y="822232"/>
                </a:lnTo>
                <a:lnTo>
                  <a:pt x="548640" y="566496"/>
                </a:lnTo>
                <a:lnTo>
                  <a:pt x="822960" y="343975"/>
                </a:lnTo>
                <a:lnTo>
                  <a:pt x="1097280" y="168650"/>
                </a:lnTo>
                <a:lnTo>
                  <a:pt x="1371600" y="51539"/>
                </a:lnTo>
                <a:lnTo>
                  <a:pt x="1645920" y="0"/>
                </a:lnTo>
                <a:lnTo>
                  <a:pt x="1920240" y="17270"/>
                </a:lnTo>
                <a:lnTo>
                  <a:pt x="2194560" y="102266"/>
                </a:lnTo>
                <a:lnTo>
                  <a:pt x="2468879" y="249646"/>
                </a:lnTo>
                <a:lnTo>
                  <a:pt x="2743200" y="450149"/>
                </a:lnTo>
              </a:path>
            </a:pathLst>
          </a:custGeom>
          <a:noFill/>
          <a:ln w="28575">
            <a:solidFill>
              <a:srgbClr val="9AA3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051560" y="1500039"/>
            <a:ext cx="2626741" cy="1334601"/>
          </a:xfrm>
          <a:custGeom>
            <a:avLst/>
            <a:gdLst/>
            <a:ahLst/>
            <a:cxnLst/>
            <a:rect l="l" t="t" r="r" b="b"/>
            <a:pathLst>
              <a:path w="2626741" h="1334601">
                <a:moveTo>
                  <a:pt x="0" y="1334601"/>
                </a:moveTo>
                <a:lnTo>
                  <a:pt x="233672" y="1026196"/>
                </a:lnTo>
                <a:lnTo>
                  <a:pt x="469731" y="734770"/>
                </a:lnTo>
                <a:lnTo>
                  <a:pt x="710412" y="476237"/>
                </a:lnTo>
                <a:lnTo>
                  <a:pt x="957662" y="264441"/>
                </a:lnTo>
                <a:lnTo>
                  <a:pt x="1213014" y="110291"/>
                </a:lnTo>
                <a:lnTo>
                  <a:pt x="1477491" y="21076"/>
                </a:lnTo>
                <a:lnTo>
                  <a:pt x="1751545" y="0"/>
                </a:lnTo>
                <a:lnTo>
                  <a:pt x="2035024" y="45990"/>
                </a:lnTo>
                <a:lnTo>
                  <a:pt x="2327186" y="153758"/>
                </a:lnTo>
                <a:lnTo>
                  <a:pt x="2626741" y="314133"/>
                </a:lnTo>
              </a:path>
            </a:pathLst>
          </a:custGeom>
          <a:noFill/>
          <a:ln w="31750">
            <a:solidFill>
              <a:srgbClr val="001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617720" y="1968125"/>
            <a:ext cx="2743200" cy="1095115"/>
          </a:xfrm>
          <a:custGeom>
            <a:avLst/>
            <a:gdLst/>
            <a:ahLst/>
            <a:cxnLst/>
            <a:rect l="l" t="t" r="r" b="b"/>
            <a:pathLst>
              <a:path w="2743200" h="1095115">
                <a:moveTo>
                  <a:pt x="0" y="1095115"/>
                </a:moveTo>
                <a:lnTo>
                  <a:pt x="274320" y="822232"/>
                </a:lnTo>
                <a:lnTo>
                  <a:pt x="548639" y="566496"/>
                </a:lnTo>
                <a:lnTo>
                  <a:pt x="822959" y="343975"/>
                </a:lnTo>
                <a:lnTo>
                  <a:pt x="1097280" y="168650"/>
                </a:lnTo>
                <a:lnTo>
                  <a:pt x="1371600" y="51539"/>
                </a:lnTo>
                <a:lnTo>
                  <a:pt x="1645920" y="0"/>
                </a:lnTo>
                <a:lnTo>
                  <a:pt x="1920240" y="17270"/>
                </a:lnTo>
                <a:lnTo>
                  <a:pt x="2194559" y="102266"/>
                </a:lnTo>
                <a:lnTo>
                  <a:pt x="2468880" y="249646"/>
                </a:lnTo>
                <a:lnTo>
                  <a:pt x="2743200" y="450149"/>
                </a:lnTo>
              </a:path>
            </a:pathLst>
          </a:custGeom>
          <a:noFill/>
          <a:ln w="25400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18888" y="2717205"/>
            <a:ext cx="146304" cy="146304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67527" y="2238948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4892040" y="2202372"/>
            <a:ext cx="548639" cy="478257"/>
          </a:xfrm>
          <a:prstGeom prst="line">
            <a:avLst/>
          </a:prstGeom>
          <a:ln w="127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41848" y="2063623"/>
            <a:ext cx="146304" cy="146304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90488" y="1894973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5715000" y="1858397"/>
            <a:ext cx="548640" cy="168650"/>
          </a:xfrm>
          <a:prstGeom prst="line">
            <a:avLst/>
          </a:prstGeom>
          <a:ln w="127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64808" y="1912243"/>
            <a:ext cx="146304" cy="146304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13448" y="2144619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537960" y="1875667"/>
            <a:ext cx="548640" cy="232376"/>
          </a:xfrm>
          <a:prstGeom prst="line">
            <a:avLst/>
          </a:prstGeom>
          <a:ln w="127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8275320" y="192024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w="25400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31352" y="1856232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51392" y="185623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45752" y="1856232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65792" y="185623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60152" y="1856232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80192" y="185623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20574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直行：滑移 ≈ 沿向平移</a:t>
            </a:r>
          </a:p>
        </p:txBody>
      </p:sp>
      <p:sp>
        <p:nvSpPr>
          <p:cNvPr id="6" name="Freeform 5"/>
          <p:cNvSpPr/>
          <p:nvPr/>
        </p:nvSpPr>
        <p:spPr>
          <a:xfrm>
            <a:off x="8321040" y="2559877"/>
            <a:ext cx="1824218" cy="594803"/>
          </a:xfrm>
          <a:custGeom>
            <a:avLst/>
            <a:gdLst/>
            <a:ahLst/>
            <a:cxnLst/>
            <a:rect l="l" t="t" r="r" b="b"/>
            <a:pathLst>
              <a:path w="1824218" h="594803">
                <a:moveTo>
                  <a:pt x="0" y="594803"/>
                </a:moveTo>
                <a:lnTo>
                  <a:pt x="273292" y="587615"/>
                </a:lnTo>
                <a:lnTo>
                  <a:pt x="540447" y="566214"/>
                </a:lnTo>
                <a:lnTo>
                  <a:pt x="795464" y="531081"/>
                </a:lnTo>
                <a:lnTo>
                  <a:pt x="1032618" y="483003"/>
                </a:lnTo>
                <a:lnTo>
                  <a:pt x="1246580" y="423062"/>
                </a:lnTo>
                <a:lnTo>
                  <a:pt x="1432548" y="352603"/>
                </a:lnTo>
                <a:lnTo>
                  <a:pt x="1586343" y="273208"/>
                </a:lnTo>
                <a:lnTo>
                  <a:pt x="1704513" y="186660"/>
                </a:lnTo>
                <a:lnTo>
                  <a:pt x="1784402" y="94904"/>
                </a:lnTo>
                <a:lnTo>
                  <a:pt x="1824218" y="0"/>
                </a:lnTo>
              </a:path>
            </a:pathLst>
          </a:custGeom>
          <a:noFill/>
          <a:ln w="25400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30324" y="3083484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89650" y="2978872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03612" y="2918931"/>
            <a:ext cx="128016" cy="128016"/>
          </a:xfrm>
          <a:prstGeom prst="ellipse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61545" y="2682529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27889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转弯：方向改变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A3B5"/>
                </a:solidFill>
                <a:latin typeface="微软雅黑"/>
                <a:ea typeface="微软雅黑"/>
              </a:rPr>
              <a:t>— —</a:t>
            </a: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 路侧观测　</a:t>
            </a:r>
            <a:r>
              <a:rPr sz="1100" b="1">
                <a:solidFill>
                  <a:srgbClr val="001E64"/>
                </a:solidFill>
                <a:latin typeface="微软雅黑"/>
                <a:ea typeface="微软雅黑"/>
              </a:rPr>
              <a:t>——</a:t>
            </a: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 车端观测　</a:t>
            </a: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●</a:t>
            </a: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 含时间偏差的观测点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03D88"/>
                </a:solidFill>
                <a:latin typeface="微软雅黑"/>
                <a:ea typeface="微软雅黑"/>
              </a:rPr>
              <a:t>▪ </a:t>
            </a:r>
            <a:r>
              <a:rPr sz="1400" b="1">
                <a:solidFill>
                  <a:srgbClr val="001E64"/>
                </a:solidFill>
                <a:latin typeface="微软雅黑"/>
                <a:ea typeface="微软雅黑"/>
              </a:rPr>
              <a:t>两端都具备：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路侧下发的目标列表随时间连续，车端感知亦然，无需传输图像。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03D88"/>
                </a:solidFill>
                <a:latin typeface="微软雅黑"/>
                <a:ea typeface="微软雅黑"/>
              </a:rPr>
              <a:t>▪ </a:t>
            </a:r>
            <a:r>
              <a:rPr sz="1400" b="1">
                <a:solidFill>
                  <a:srgbClr val="001E64"/>
                </a:solidFill>
                <a:latin typeface="微软雅黑"/>
                <a:ea typeface="微软雅黑"/>
              </a:rPr>
              <a:t>同时携带空间与时间信息：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静止目标对时间偏差不敏感，运动目标的位置差随速度与时间偏差变化，使时间偏差可被观测。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/>
                <a:ea typeface="微软雅黑"/>
              </a:rPr>
              <a:t>目标轨迹同时携带空间与时间信息，是在不传输图像的条件下实现车路一致定位的共同观测。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109728"/>
            <a:ext cx="2852928" cy="402336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50808" y="164592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03D88"/>
                </a:solidFill>
                <a:latin typeface="微软雅黑"/>
              </a:rPr>
              <a:t>小组原有分析 · 非上游代码结果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" y="636422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7" y="6400800"/>
            <a:ext cx="10954512" cy="1920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来源：原组会 PPT《基于目标轨迹的目标级车路协同定位》；未包含在 V2I-Calib 代码中。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95302" y="67311"/>
            <a:ext cx="76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6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0570" y="75426"/>
            <a:ext cx="10668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初步验证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57200" y="1417320"/>
          <a:ext cx="51206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1051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03D88"/>
                </a:solidFill>
                <a:latin typeface="微软雅黑"/>
                <a:ea typeface="微软雅黑"/>
              </a:rPr>
              <a:t>车路一致率 @0.5 m（46519 个目标）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4480560"/>
          <a:ext cx="50292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118872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不修正</a:t>
                      </a: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官方补丁</a:t>
                      </a: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在线估计</a:t>
                      </a:r>
                    </a:p>
                  </a:txBody>
                  <a:tcPr marT="18288" marB="18288">
                    <a:solidFill>
                      <a:srgbClr val="DDE3F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中位距离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1.11 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0.41 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0.34 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佐证：图像 IoU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0.48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0.60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0.62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376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以前 1 s 内两端共同目标的轨迹估计平移、偏航与时间偏差，在其后 1 s 上评测。图像 IoU 可达上界 0.70，指标上界 0.84。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035040" y="1417320"/>
          <a:ext cx="566928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26480" y="1051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03D88"/>
                </a:solidFill>
                <a:latin typeface="微软雅黑"/>
                <a:ea typeface="微软雅黑"/>
              </a:rPr>
              <a:t>注入已知时间偏差后的估计误差（90% 分位数，ms）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37667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按 1 s 窗口内目标运动方向的多样性分组；观测噪声为独立高斯，结果偏乐观。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</a:rPr>
              <a:t>■  </a:t>
            </a:r>
            <a:r>
              <a:rPr sz="1700" b="1">
                <a:solidFill>
                  <a:srgbClr val="001E64"/>
                </a:solidFill>
                <a:latin typeface="微软雅黑"/>
                <a:ea typeface="微软雅黑"/>
              </a:rPr>
              <a:t>初步结果显示，仅用前 1 s 轨迹，车路一致率由 0.09 升至 0.69，高于人工补丁 0.59；时间偏差可观测性依赖运动多样性。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09728"/>
            <a:ext cx="2852928" cy="402336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808" y="164592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03D88"/>
                </a:solidFill>
                <a:latin typeface="微软雅黑"/>
              </a:rPr>
              <a:t>小组原有分析 · 非上游代码结果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36422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6400800"/>
            <a:ext cx="10954512" cy="1920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微软雅黑"/>
              </a:rPr>
              <a:t>来源：原组会 PPT《基于目标轨迹的目标级车路协同定位》；未包含在 V2I-Calib 代码中。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U4ZDRiNTA4NDg4MjA3ZmZlZWIwYjE5OGUyNDBlZm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1402</Words>
  <Application>Microsoft Office PowerPoint</Application>
  <PresentationFormat>宽屏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等线</vt:lpstr>
      <vt:lpstr>等线 Light</vt:lpstr>
      <vt:lpstr>方正悠黑_513B</vt:lpstr>
      <vt:lpstr>STCaiyun</vt:lpstr>
      <vt:lpstr>Microsoft YaHei</vt:lpstr>
      <vt:lpstr>Microsoft YaHei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智能无人系统</dc:title>
  <dc:creator>昂 金</dc:creator>
  <cp:lastModifiedBy>Daniel bian</cp:lastModifiedBy>
  <cp:revision>44</cp:revision>
  <dcterms:created xsi:type="dcterms:W3CDTF">2023-10-26T03:16:00Z</dcterms:created>
  <dcterms:modified xsi:type="dcterms:W3CDTF">2025-07-03T04:31:44Z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6EDBDFB644D64BD1AEB4903677E5E66B_12</vt:lpwstr>
  </property>
  <property fmtid="{D5CDD505-2E9C-101B-9397-08002B2CF9AE}" pid="3" name="KSOProductBuildVer">
    <vt:lpwstr>2052-12.1.0.19302</vt:lpwstr>
  </property>
</Properties>
</file>